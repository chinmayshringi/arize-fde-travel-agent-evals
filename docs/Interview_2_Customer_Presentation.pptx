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8e8d41a1a04d80" /><Relationship Type="http://schemas.openxmlformats.org/officeDocument/2006/relationships/extended-properties" Target="/docProps/app.xml" Id="R761be5fa4a484609" /><Relationship Type="http://schemas.openxmlformats.org/officeDocument/2006/relationships/officeDocument" Target="/ppt/presentation.xml" Id="R80fc029cfa6146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d82f39609e4d26"/>
  </p:sldMasterIdLst>
  <p:notesMasterIdLst>
    <p:notesMasterId xmlns:r="http://schemas.openxmlformats.org/officeDocument/2006/relationships" r:id="Redb17f78a7854da5"/>
  </p:notesMasterIdLst>
  <p:sldIdLst>
    <p:sldId xmlns:r="http://schemas.openxmlformats.org/officeDocument/2006/relationships" id="256" r:id="Rcd30c8bb72174990"/>
    <p:sldId xmlns:r="http://schemas.openxmlformats.org/officeDocument/2006/relationships" id="257" r:id="Ra78d01fa8d594e56"/>
    <p:sldId xmlns:r="http://schemas.openxmlformats.org/officeDocument/2006/relationships" id="258" r:id="Rc6869758d823432e"/>
    <p:sldId xmlns:r="http://schemas.openxmlformats.org/officeDocument/2006/relationships" id="259" r:id="R00900a87356d4f20"/>
    <p:sldId xmlns:r="http://schemas.openxmlformats.org/officeDocument/2006/relationships" id="260" r:id="R520cd8000f2f46f4"/>
    <p:sldId xmlns:r="http://schemas.openxmlformats.org/officeDocument/2006/relationships" id="261" r:id="R9d7af89ba79d4b57"/>
    <p:sldId xmlns:r="http://schemas.openxmlformats.org/officeDocument/2006/relationships" id="262" r:id="R7e5e0efead5a406b"/>
    <p:sldId xmlns:r="http://schemas.openxmlformats.org/officeDocument/2006/relationships" id="263" r:id="R3aff725fbbca4604"/>
    <p:sldId xmlns:r="http://schemas.openxmlformats.org/officeDocument/2006/relationships" id="264" r:id="Rb85e70a5df004f58"/>
    <p:sldId xmlns:r="http://schemas.openxmlformats.org/officeDocument/2006/relationships" id="265" r:id="R47fa5b18f5e44a3d"/>
    <p:sldId xmlns:r="http://schemas.openxmlformats.org/officeDocument/2006/relationships" id="266" r:id="Rdc5c3fac795c4cc4"/>
    <p:sldId xmlns:r="http://schemas.openxmlformats.org/officeDocument/2006/relationships" id="267" r:id="Rd153fc7ec26f44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54200424404fc4" /><Relationship Type="http://schemas.openxmlformats.org/officeDocument/2006/relationships/slideMaster" Target="/ppt/slideMasters/slideMaster1.xml" Id="R23d82f39609e4d26" /><Relationship Type="http://schemas.openxmlformats.org/officeDocument/2006/relationships/notesMaster" Target="/ppt/notesMasters/notesMaster1.xml" Id="Redb17f78a7854da5" /><Relationship Type="http://schemas.openxmlformats.org/officeDocument/2006/relationships/presProps" Target="/ppt/presProps.xml" Id="R228c806ecbad4fc7" /><Relationship Type="http://schemas.openxmlformats.org/officeDocument/2006/relationships/tableStyles" Target="/ppt/tableStyles.xml" Id="Rbb62f05a8c074140" /><Relationship Type="http://schemas.openxmlformats.org/officeDocument/2006/relationships/slide" Target="/ppt/slides/slide1.xml" Id="Rcd30c8bb72174990" /><Relationship Type="http://schemas.openxmlformats.org/officeDocument/2006/relationships/slide" Target="/ppt/slides/slide2.xml" Id="Ra78d01fa8d594e56" /><Relationship Type="http://schemas.openxmlformats.org/officeDocument/2006/relationships/slide" Target="/ppt/slides/slide3.xml" Id="Rc6869758d823432e" /><Relationship Type="http://schemas.openxmlformats.org/officeDocument/2006/relationships/slide" Target="/ppt/slides/slide4.xml" Id="R00900a87356d4f20" /><Relationship Type="http://schemas.openxmlformats.org/officeDocument/2006/relationships/slide" Target="/ppt/slides/slide5.xml" Id="R520cd8000f2f46f4" /><Relationship Type="http://schemas.openxmlformats.org/officeDocument/2006/relationships/slide" Target="/ppt/slides/slide6.xml" Id="R9d7af89ba79d4b57" /><Relationship Type="http://schemas.openxmlformats.org/officeDocument/2006/relationships/slide" Target="/ppt/slides/slide7.xml" Id="R7e5e0efead5a406b" /><Relationship Type="http://schemas.openxmlformats.org/officeDocument/2006/relationships/slide" Target="/ppt/slides/slide8.xml" Id="R3aff725fbbca4604" /><Relationship Type="http://schemas.openxmlformats.org/officeDocument/2006/relationships/slide" Target="/ppt/slides/slide9.xml" Id="Rb85e70a5df004f58" /><Relationship Type="http://schemas.openxmlformats.org/officeDocument/2006/relationships/slide" Target="/ppt/slides/slide10.xml" Id="R47fa5b18f5e44a3d" /><Relationship Type="http://schemas.openxmlformats.org/officeDocument/2006/relationships/slide" Target="/ppt/slides/slide11.xml" Id="Rdc5c3fac795c4cc4" /><Relationship Type="http://schemas.openxmlformats.org/officeDocument/2006/relationships/slide" Target="/ppt/slides/slide12.xml" Id="Rd153fc7ec26f44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f8a66558aa47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df587df2fb4e6a" /><Relationship Type="http://schemas.openxmlformats.org/officeDocument/2006/relationships/notesMaster" Target="/ppt/notesMasters/notesMaster1.xml" Id="Rcddd8d18656045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893859d681445d" /><Relationship Type="http://schemas.openxmlformats.org/officeDocument/2006/relationships/notesMaster" Target="/ppt/notesMasters/notesMaster1.xml" Id="R390369d12d28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0ec602c2174ee4" /><Relationship Type="http://schemas.openxmlformats.org/officeDocument/2006/relationships/notesMaster" Target="/ppt/notesMasters/notesMaster1.xml" Id="Rc4efed54f14c4c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0ab3be80a74fa0" /><Relationship Type="http://schemas.openxmlformats.org/officeDocument/2006/relationships/notesMaster" Target="/ppt/notesMasters/notesMaster1.xml" Id="R4bec8ddad05442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b321b52a7346cf" /><Relationship Type="http://schemas.openxmlformats.org/officeDocument/2006/relationships/notesMaster" Target="/ppt/notesMasters/notesMaster1.xml" Id="R51f7b4dc12df43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6d759705874051" /><Relationship Type="http://schemas.openxmlformats.org/officeDocument/2006/relationships/notesMaster" Target="/ppt/notesMasters/notesMaster1.xml" Id="R7c212e7ef9df42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020f2ad52c46be" /><Relationship Type="http://schemas.openxmlformats.org/officeDocument/2006/relationships/notesMaster" Target="/ppt/notesMasters/notesMaster1.xml" Id="R6d7695bea0194f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aa7f547cf64b86" /><Relationship Type="http://schemas.openxmlformats.org/officeDocument/2006/relationships/notesMaster" Target="/ppt/notesMasters/notesMaster1.xml" Id="R310bb9d2ec434a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5baa9366e64122" /><Relationship Type="http://schemas.openxmlformats.org/officeDocument/2006/relationships/notesMaster" Target="/ppt/notesMasters/notesMaster1.xml" Id="R1fed5fc02b7342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8b65e9bb8742d3" /><Relationship Type="http://schemas.openxmlformats.org/officeDocument/2006/relationships/notesMaster" Target="/ppt/notesMasters/notesMaster1.xml" Id="R0017ca813de347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0c69b7b6b04b89" /><Relationship Type="http://schemas.openxmlformats.org/officeDocument/2006/relationships/notesMaster" Target="/ppt/notesMasters/notesMaster1.xml" Id="R33bc950b611b48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01a49b04044678" /><Relationship Type="http://schemas.openxmlformats.org/officeDocument/2006/relationships/notesMaster" Target="/ppt/notesMasters/notesMaster1.xml" Id="R5c6015505c9b44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c0ebb9427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4ec6b4bd834311" /><Relationship Type="http://schemas.openxmlformats.org/officeDocument/2006/relationships/slideLayout" Target="/ppt/slideLayouts/slideLayout1.xml" Id="R06908231e4674e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908231e4674e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347774d1f47c7" /><Relationship Type="http://schemas.openxmlformats.org/officeDocument/2006/relationships/notesSlide" Target="/ppt/notesSlides/notesSlide1.xml" Id="Raa1eca152eb949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050d3b4274ca3" /><Relationship Type="http://schemas.openxmlformats.org/officeDocument/2006/relationships/notesSlide" Target="/ppt/notesSlides/notesSlide2.xml" Id="R7ffabb5fc1cd46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8f3cf418b4408" /><Relationship Type="http://schemas.openxmlformats.org/officeDocument/2006/relationships/notesSlide" Target="/ppt/notesSlides/notesSlide3.xml" Id="Rc8d2fbac038e4d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06206e641405b" /><Relationship Type="http://schemas.openxmlformats.org/officeDocument/2006/relationships/notesSlide" Target="/ppt/notesSlides/notesSlide4.xml" Id="R8531cc724b0f47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c6e86fd3545fa" /><Relationship Type="http://schemas.openxmlformats.org/officeDocument/2006/relationships/notesSlide" Target="/ppt/notesSlides/notesSlide5.xml" Id="Rea7008b187d048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5476b32c8410d" /><Relationship Type="http://schemas.openxmlformats.org/officeDocument/2006/relationships/notesSlide" Target="/ppt/notesSlides/notesSlide6.xml" Id="R99da6ebedfad44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2a2a5994841a8" /><Relationship Type="http://schemas.openxmlformats.org/officeDocument/2006/relationships/notesSlide" Target="/ppt/notesSlides/notesSlide7.xml" Id="Re2ad5a7044e640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bc14ec0a44e33" /><Relationship Type="http://schemas.openxmlformats.org/officeDocument/2006/relationships/notesSlide" Target="/ppt/notesSlides/notesSlide8.xml" Id="R192b3b46b6434f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5183e043e47cb" /><Relationship Type="http://schemas.openxmlformats.org/officeDocument/2006/relationships/notesSlide" Target="/ppt/notesSlides/notesSlide9.xml" Id="R5a642df2c16d42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ee6ff447e4eaf" /><Relationship Type="http://schemas.openxmlformats.org/officeDocument/2006/relationships/notesSlide" Target="/ppt/notesSlides/notesSlide10.xml" Id="R0d48c51c008348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c6ccfc9fe4ffd" /><Relationship Type="http://schemas.openxmlformats.org/officeDocument/2006/relationships/notesSlide" Target="/ppt/notesSlides/notesSlide11.xml" Id="R19321eb8656b41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b8d65391741ea" /><Relationship Type="http://schemas.openxmlformats.org/officeDocument/2006/relationships/notesSlide" Target="/ppt/notesSlides/notesSlide12.xml" Id="R298bd6bbe0a84b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E756A-C3CE-455E-9174-B6723019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2324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59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B1C4E-13F2-49A4-BBDE-BC08F202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CUSTOMER WORKING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52D4C-1282-4716-A866-D14F7D7E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52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 safer improvement loop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for your travel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2A8F5-79FC-45D6-B168-A685D4E8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E8F5"/>
                </a:solidFill>
              </a:defRPr>
            </a:pPr>
            <a:r>
              <a:rPr sz="1725" b="0">
                <a:solidFill>
                  <a:srgbClr val="D6E8F5"/>
                </a:solidFill>
              </a:rPr>
              <a:t>Measure the first mistake. Prove the repair. Roll out with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834DF-8BFC-44BF-841B-448C968A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895350"/>
            <a:ext cx="2781300" cy="45529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214E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A0408-0BF4-4972-9ACB-9D31E6A1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573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B942"/>
                </a:solidFill>
              </a:defRPr>
            </a:pPr>
            <a:r>
              <a:rPr sz="3150" b="1">
                <a:solidFill>
                  <a:srgbClr val="F4B94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93071-F881-424B-B914-AE6628A3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24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58984-F9B7-4991-99FA-9A8B59A6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E8F5"/>
                </a:solidFill>
              </a:defRPr>
            </a:pPr>
            <a:r>
              <a:rPr sz="1200" b="0">
                <a:solidFill>
                  <a:srgbClr val="D6E8F5"/>
                </a:solidFill>
              </a:rPr>
              <a:t>Find the earliest failure in the chain.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58E27-E63F-4EE5-84BB-D9FB2D12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B942"/>
                </a:solidFill>
              </a:defRPr>
            </a:pPr>
            <a:r>
              <a:rPr sz="3150" b="1">
                <a:solidFill>
                  <a:srgbClr val="F4B94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A42E1-DE39-46E7-A633-62690949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71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Evaluate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166F7-2DF4-4144-A4C0-5FE7BB3B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148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E8F5"/>
                </a:solidFill>
              </a:defRPr>
            </a:pPr>
            <a:r>
              <a:rPr sz="1200" b="0">
                <a:solidFill>
                  <a:srgbClr val="D6E8F5"/>
                </a:solidFill>
              </a:rPr>
              <a:t>Use deterministic checks before model judges.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F2A8B-A34A-4775-B543-9D01EBBD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8F5"/>
                </a:solidFill>
              </a:defRPr>
            </a:pPr>
            <a:r>
              <a:rPr sz="1125" b="0">
                <a:solidFill>
                  <a:srgbClr val="D6E8F5"/>
                </a:solidFill>
              </a:rPr>
              <a:t>Sariya Rizwan  |  Forward Deployed AI Engineer</a:t>
            </a:r>
          </a:p>
        </p:txBody>
      </p:sp>
    </p:spTree>
    <p:extLst>
      <p:ext uri="{BB962C8B-B14F-4D97-AF65-F5344CB8AC3E}">
        <p14:creationId xmlns:p14="http://schemas.microsoft.com/office/powerpoint/2010/main" val="12180362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5DF91A-5958-4403-8F99-CA998EE4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WHAT YOU ASKED FOR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9E60D-AB83-4EB3-A615-8DC5EF2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The business goal, translated into system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08518-44B0-4413-8208-FC122503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381"/>
                </a:solidFill>
              </a:defRPr>
            </a:pPr>
            <a:r>
              <a:rPr sz="900" b="1">
                <a:solidFill>
                  <a:srgbClr val="637381"/>
                </a:solidFill>
              </a:rPr>
              <a:t>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71ABF-1530-4ADF-9379-F8CA3FF2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ARIZE FDE INTERVIEW 2  | 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6FC00-0CB4-4E38-B627-772D9514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81"/>
                </a:solidFill>
              </a:defRPr>
            </a:pPr>
            <a:r>
              <a:rPr sz="825" b="1">
                <a:solidFill>
                  <a:srgbClr val="637381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AA9F3-BDA4-4002-BB46-31D29931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429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36B72-316E-420A-8262-EB7F9FC9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6200" cy="2076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7EC96-5E3C-40E7-9CAB-855025A3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Product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7E6C5-F39F-4411-8739-536E22DE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028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Increase booking conversion. Until booking exists, grounded answers and correct tool use are leading indicators, not the business KPI itself.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321F3-5C3C-4308-BC6A-8832E05B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3429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DAB96-BF9D-46D4-9573-DFB71829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76200" cy="2076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FF353-8846-4346-AC63-C1BA8C67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76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Quality operation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4CE23-A4F2-467C-A37F-8CB33270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3028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Replace manual spot checks with repeatable evaluations, failure triage, and a reviewable improvement proposal.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C4127-5871-4066-8493-510BDA4B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04950"/>
            <a:ext cx="3429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3B60B-ECD2-4F94-AB01-39BBD9F6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04950"/>
            <a:ext cx="76200" cy="2076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B665F-8D45-40F8-9428-EFE42EB5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Engineering constraint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22F0C-D3C7-4CEC-A6FD-D15E7722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3028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Keep the homegrown agent. Trace planning to itinerary to booking, block PII at source, and prevent fabricated inventory.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EB420-6DB4-4A0A-B213-C8B88E55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85457-57F9-4541-81FC-D413E930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8A8"/>
                </a:solidFill>
              </a:defRPr>
            </a:pPr>
            <a:r>
              <a:rPr sz="975" b="1">
                <a:solidFill>
                  <a:srgbClr val="00A8A8"/>
                </a:solidFill>
              </a:rPr>
              <a:t>ANCHOR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F407B-F3FB-4339-B3D5-9D00E4D3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Planning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75A07-0101-4E51-874D-35AEA8E3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529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877F2"/>
                </a:solidFill>
              </a:defRPr>
            </a:pPr>
            <a:r>
              <a:rPr sz="2250" b="1">
                <a:solidFill>
                  <a:srgbClr val="1877F2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C7DC5-059E-4A36-9E46-D7E2DF56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720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Itinerary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B4D22-938B-4004-876A-0039FEF5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529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877F2"/>
                </a:solidFill>
              </a:defRPr>
            </a:pPr>
            <a:r>
              <a:rPr sz="2250" b="1">
                <a:solidFill>
                  <a:srgbClr val="1877F2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11826-F8D3-4C01-9063-04B1E39F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72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Booking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4372F-CF2C-4BCC-ADF4-AA28A1F4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E68"/>
                </a:solidFill>
              </a:defRPr>
            </a:pPr>
            <a:r>
              <a:rPr sz="1350" b="0">
                <a:solidFill>
                  <a:srgbClr val="334E68"/>
                </a:solidFill>
              </a:rPr>
              <a:t>Prototype boundary: no booking or payment tool exists, so conversion was not measured.</a:t>
            </a:r>
          </a:p>
        </p:txBody>
      </p:sp>
    </p:spTree>
    <p:extLst>
      <p:ext uri="{BB962C8B-B14F-4D97-AF65-F5344CB8AC3E}">
        <p14:creationId xmlns:p14="http://schemas.microsoft.com/office/powerpoint/2010/main" val="2043747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6A626C-33AE-443A-92A4-3EBBF1E5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TRACE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7C6C9-0DCF-4AA2-8401-FE9D6839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The defect began in the flight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AF4C0-B6CD-4741-8411-FAF3A9E7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381"/>
                </a:solidFill>
              </a:defRPr>
            </a:pPr>
            <a:r>
              <a:rPr sz="900" b="1">
                <a:solidFill>
                  <a:srgbClr val="637381"/>
                </a:solidFill>
              </a:rPr>
              <a:t>DIAGNOSE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6C744-42B8-4231-97E5-04A18F06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ARIZE FDE INTERVIEW 2  | 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30375-8E9D-4EC8-83A6-D5DA8934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81"/>
                </a:solidFill>
              </a:defRPr>
            </a:pPr>
            <a:r>
              <a:rPr sz="825" b="1">
                <a:solidFill>
                  <a:srgbClr val="637381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F7C55-17CC-4524-A2E0-EE491E18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4EB42-8EAE-4746-94BF-185BEE92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22269-5AF8-4136-91EB-0CCE1AC1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Tokyo → Los Angeles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607B4-9241-4D5A-A0A8-E43C569B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E68"/>
                </a:solidFill>
              </a:defRPr>
            </a:pPr>
            <a:r>
              <a:rPr sz="1350" b="0">
                <a:solidFill>
                  <a:srgbClr val="334E68"/>
                </a:solidFill>
              </a:rPr>
              <a:t>The tool ignored direction, treated the route as an unordered set, and removed origin and destination from the returned payload.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6F87E-CFC1-4D0D-A6EF-7B65B3C2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B8E4A-D8D3-429B-B7FB-DC4A3808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19C40-88E0-4947-A296-182C686A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954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1  User intent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31335-521E-4100-BA33-C45A61F9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1695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Correct route and travel 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53A15-D948-41A4-8467-CFA8516C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2400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DB871-B927-4FB6-88B8-A02EEEB0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2400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DC741-0B60-4F8D-891D-DD1C6D07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2  Tool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6ED49-81BB-4C96-961C-15601D86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95500"/>
            <a:ext cx="1695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Backwards flight, with direction hidden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7A278-BB5F-4C0B-AD31-D3E4EF42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2400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E0791-66D6-4B9F-842F-8D3D6890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2400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0369D-23E0-4B64-B2B8-CD92B923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954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3  Model reply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ED715-1536-4B86-B40B-90A42006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Cannot reliably detect the upstream mismatch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78F82-EAE1-4CDA-94B6-72F56F43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71056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D38D5-E513-4E7C-B1AA-4D6C7431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3B3B"/>
                </a:solidFill>
              </a:defRPr>
            </a:pPr>
            <a:r>
              <a:rPr sz="1350" b="1">
                <a:solidFill>
                  <a:srgbClr val="C53B3B"/>
                </a:solidFill>
              </a:rPr>
              <a:t>Why this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83B21-92C5-4F60-A068-621B6915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48100"/>
            <a:ext cx="647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 reply-only hallucination score can blame the model for a defect introduced by the tool. Span-level attribution tells the team where to intervene first.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27C7C-76D3-4E7B-AA6B-9CD4057E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34000"/>
            <a:ext cx="710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381"/>
                </a:solidFill>
              </a:defRPr>
            </a:pPr>
            <a:r>
              <a:rPr sz="1050" b="0">
                <a:solidFill>
                  <a:srgbClr val="637381"/>
                </a:solidFill>
              </a:rPr>
              <a:t>Evidence: search_flights code path plus captured E2 failures.</a:t>
            </a:r>
          </a:p>
        </p:txBody>
      </p:sp>
    </p:spTree>
    <p:extLst>
      <p:ext uri="{BB962C8B-B14F-4D97-AF65-F5344CB8AC3E}">
        <p14:creationId xmlns:p14="http://schemas.microsoft.com/office/powerpoint/2010/main" val="21091764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77A39-6C3A-4E9D-B394-F691A475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EVALUATION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ACD37-72C6-4F67-AAD9-990D4BDB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Deterministic checks first, judges only where judgment is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9BE85-CA83-4114-B04F-CDEE8C32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381"/>
                </a:solidFill>
              </a:defRPr>
            </a:pPr>
            <a:r>
              <a:rPr sz="900" b="1">
                <a:solidFill>
                  <a:srgbClr val="637381"/>
                </a:solidFill>
              </a:rPr>
              <a:t>EVALUATE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628DA-06AE-4607-A011-1F1D351E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ARIZE FDE INTERVIEW 2  | 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A5365-7D90-47F0-B5AA-4D741943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81"/>
                </a:solidFill>
              </a:defRPr>
            </a:pPr>
            <a:r>
              <a:rPr sz="825" b="1">
                <a:solidFill>
                  <a:srgbClr val="637381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13876-599D-4796-A8D3-325A4C0A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429000" cy="34861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9FCEC-E7AD-4DD5-BF8B-ABF11266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6200" cy="3486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C4C12-0CA4-4877-A7AA-A3249323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Exact, free, reproducible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9C2F6-B731-4787-B7F8-2AAC3FD3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0289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Grounded entities and prices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Flight direction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Tool argument validity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Itinerary day count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Conflict handling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Token and latency telemetry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A4CBB-3A2A-43C7-8E63-533EE71C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3429000" cy="34861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5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DD350-1782-4A3B-BFCF-BCF97D7A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76200" cy="3486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F4C72-C1A5-4CD6-A642-BC601D18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76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Model judges, monitor-only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F4582-EC88-4A07-A523-A904AC2F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30289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Clarification quality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Scope and relevance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Tone quality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All remain monitor-only until customer labels provide meaningful negative examples.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EEA9C-2FB8-49DA-96E1-3C71B6AB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04950"/>
            <a:ext cx="3429000" cy="34861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CB5E4-F18F-40AB-86AA-B226C5DE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04950"/>
            <a:ext cx="76200" cy="3486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E208B-1187-472F-8705-91C8E569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Human-owned decisions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431F1-A91A-42BF-B509-3D922B2A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30289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Dataset acceptance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Rubric calibration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Production promotion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Rollback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The loop can propose and compare. It cannot approve itself.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5F268-EE92-4B65-B706-6531C71A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E68"/>
                </a:solidFill>
              </a:defRPr>
            </a:pPr>
            <a:r>
              <a:rPr sz="1350" b="1">
                <a:solidFill>
                  <a:srgbClr val="334E68"/>
                </a:solidFill>
              </a:rPr>
              <a:t>Rule: when fixtures define the complete inventory, set membership is a stronger groundedness check than an LLM opinion.</a:t>
            </a:r>
          </a:p>
        </p:txBody>
      </p:sp>
    </p:spTree>
    <p:extLst>
      <p:ext uri="{BB962C8B-B14F-4D97-AF65-F5344CB8AC3E}">
        <p14:creationId xmlns:p14="http://schemas.microsoft.com/office/powerpoint/2010/main" val="3174016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0949C4-73CE-4D83-8F5B-E8700F89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IMPROVEMENT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5A048-8D4F-436A-B1C4-8D627512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One bounded command turns failures into a reviewable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8918E-6466-4823-BC20-99A86844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381"/>
                </a:solidFill>
              </a:defRPr>
            </a:pPr>
            <a:r>
              <a:rPr sz="900" b="1">
                <a:solidFill>
                  <a:srgbClr val="637381"/>
                </a:solidFill>
              </a:rPr>
              <a:t>AUTOMATE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1A9EE-09AE-4DEF-A0F2-933E3640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ARIZE FDE INTERVIEW 2  | 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9A673-E3A1-4F2D-8138-B9F26E9A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81"/>
                </a:solidFill>
              </a:defRPr>
            </a:pPr>
            <a:r>
              <a:rPr sz="825" b="1">
                <a:solidFill>
                  <a:srgbClr val="637381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EF8FD-A353-4143-9CD4-6D288FDE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333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83F61-EC84-450D-9BCD-EE59E221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2433B-F54D-4A49-BD2D-55C30F0B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BB0C5-D061-4CF8-BD3F-BDA603FD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Collect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E30F4-DE57-48F0-BF71-407E3873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76450"/>
            <a:ext cx="22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37381"/>
                </a:solidFill>
              </a:defRPr>
            </a:pPr>
            <a:r>
              <a:rPr sz="1800" b="1">
                <a:solidFill>
                  <a:srgbClr val="637381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655A1-FF02-4C74-93D8-985CB2D3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71650"/>
            <a:ext cx="1333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4BA96-AD43-4EDC-ADC0-E474336D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050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AA66D-5AAC-4F3D-A4A2-4F4BD203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62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67DED-445D-4B1F-B9CC-CF21D85F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003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13DDF-5A02-4A8D-BE18-44848D3A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76450"/>
            <a:ext cx="22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37381"/>
                </a:solidFill>
              </a:defRPr>
            </a:pPr>
            <a:r>
              <a:rPr sz="1800" b="1">
                <a:solidFill>
                  <a:srgbClr val="637381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EAD86-1D47-4761-9C7B-E66BCD19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1333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430AE-F7FC-431E-A589-F149F3F6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050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AF6BF-4A82-43C2-98F0-DEA94B5B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62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8A8"/>
                </a:solidFill>
              </a:defRPr>
            </a:pPr>
            <a:r>
              <a:rPr sz="975" b="1">
                <a:solidFill>
                  <a:srgbClr val="00A8A8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61FFE-807D-4D16-945D-96D3BC54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03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CFFC7-BA4A-4ED4-911E-69214958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76450"/>
            <a:ext cx="22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37381"/>
                </a:solidFill>
              </a:defRPr>
            </a:pPr>
            <a:r>
              <a:rPr sz="1800" b="1">
                <a:solidFill>
                  <a:srgbClr val="637381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DDBE9-7793-456F-93CB-CA1BA54D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71650"/>
            <a:ext cx="1333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16E33-154F-407C-9A10-73133564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050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36D12-EF27-4251-8A8D-1F9CD97F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62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8A8"/>
                </a:solidFill>
              </a:defRPr>
            </a:pPr>
            <a:r>
              <a:rPr sz="975" b="1">
                <a:solidFill>
                  <a:srgbClr val="00A8A8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AFA21-7A12-48F4-8D02-C4D92057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003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Curate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726B6A-DDF5-44A3-99D3-0F84E46E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76450"/>
            <a:ext cx="22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37381"/>
                </a:solidFill>
              </a:defRPr>
            </a:pPr>
            <a:r>
              <a:rPr sz="1800" b="1">
                <a:solidFill>
                  <a:srgbClr val="637381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6303F6-AFF1-4FB2-AB5D-14155C77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71650"/>
            <a:ext cx="1333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3BEE25-DE09-4E3B-BE03-A38CC21D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788066-0338-4D61-ADFD-CEBD75C8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62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942"/>
                </a:solidFill>
              </a:defRPr>
            </a:pPr>
            <a:r>
              <a:rPr sz="975" b="1">
                <a:solidFill>
                  <a:srgbClr val="F4B942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C63E5B-C069-4176-AD8F-21544828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Propose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E06E64-C08F-44F8-89C6-2D25E8E4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22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37381"/>
                </a:solidFill>
              </a:defRPr>
            </a:pPr>
            <a:r>
              <a:rPr sz="1800" b="1">
                <a:solidFill>
                  <a:srgbClr val="637381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0C155F-ED59-4FC4-81C0-C85DC7BF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71650"/>
            <a:ext cx="1333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24E096-8FC2-43E8-8359-2675ADD9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050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4B1818-8D46-45A2-B019-0761FD86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62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942"/>
                </a:solidFill>
              </a:defRPr>
            </a:pPr>
            <a:r>
              <a:rPr sz="975" b="1">
                <a:solidFill>
                  <a:srgbClr val="F4B942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70CC5F-046F-4AE5-8349-EFCA8DD7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003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8224B5-D364-45A0-8CA4-50962575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76450"/>
            <a:ext cx="22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37381"/>
                </a:solidFill>
              </a:defRPr>
            </a:pPr>
            <a:r>
              <a:rPr sz="1800" b="1">
                <a:solidFill>
                  <a:srgbClr val="637381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2A58B5-D195-48B9-8966-4071A35E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771650"/>
            <a:ext cx="1333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7C130D-AD03-4C1C-88F7-AC074DE5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050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3021A4-3F2C-4976-ABFD-5AB8C958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962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3B3B"/>
                </a:solidFill>
              </a:defRPr>
            </a:pPr>
            <a:r>
              <a:rPr sz="975" b="1">
                <a:solidFill>
                  <a:srgbClr val="C53B3B"/>
                </a:solidFill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4BE6EF-7E7D-4058-85EE-77F18390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B2BF2B-C9C3-4E52-9C1A-AC437572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1625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4A707E-6A90-4E25-8DF0-85C26453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620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5AD5F2-8B60-4EB2-B9EB-342EAC85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Automation boundary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F3ECB6-85D6-4E88-9944-576010B3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Collect through experiment runs without a person in the path. Candidate changes are limited to a prompt change, adding a tool call, or modifying a tool call.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AF744B-27D5-42AC-A52D-2B53FC78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55054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387CF9-0A5E-4456-9300-ABFE45D2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7620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68BC06-E26D-4AE6-820E-20EDFCD7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Authority boundary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0804D0-25F6-4561-832A-EC47B09B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5105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The output is pending_human_review. Promotion and rollback require a named reviewer because the judges are not calibrated for release gating.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857F47-6549-4FAE-B3D0-F94C816F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E68"/>
                </a:solidFill>
              </a:defRPr>
            </a:pPr>
            <a:r>
              <a:rPr sz="1275" b="0">
                <a:solidFill>
                  <a:srgbClr val="334E68"/>
                </a:solidFill>
              </a:rPr>
              <a:t>The agent loop itself also has an iteration ceiling and wall-clock deadline, with a non-fabricating fallback.</a:t>
            </a:r>
          </a:p>
        </p:txBody>
      </p:sp>
    </p:spTree>
    <p:extLst>
      <p:ext uri="{BB962C8B-B14F-4D97-AF65-F5344CB8AC3E}">
        <p14:creationId xmlns:p14="http://schemas.microsoft.com/office/powerpoint/2010/main" val="14513662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30BDD0-D7CD-4228-B2B7-13E0E63E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MEASURED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EC08E-8655-4CD7-8F50-CB2097DA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The bounded tool fix removed the measured direction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9E9F1-6B4F-47E0-A5DC-6245CB02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381"/>
                </a:solidFill>
              </a:defRPr>
            </a:pPr>
            <a:r>
              <a:rPr sz="900" b="1">
                <a:solidFill>
                  <a:srgbClr val="637381"/>
                </a:solidFill>
              </a:rPr>
              <a:t>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C520A-E7DD-444A-97B4-38B8AC73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ARIZE FDE INTERVIEW 2  | 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C5142-0440-4DC8-A85C-17DCA5A7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81"/>
                </a:solidFill>
              </a:defRPr>
            </a:pPr>
            <a:r>
              <a:rPr sz="825" b="1">
                <a:solidFill>
                  <a:srgbClr val="637381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D4CA1-D265-4DF7-8500-6B5D1169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952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79AA9-6E94-43A9-9A2C-97B558DA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53B3B"/>
                </a:solidFill>
              </a:defRPr>
            </a:pPr>
            <a:r>
              <a:rPr sz="2850" b="1">
                <a:solidFill>
                  <a:srgbClr val="C53B3B"/>
                </a:solidFill>
              </a:rPr>
              <a:t>1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71239-C093-4653-B7A5-9447BF14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Control replies with correct flight 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60BFF-13EE-44D9-A5E6-C39319DF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431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37381"/>
                </a:solidFill>
              </a:defRPr>
            </a:pPr>
            <a:r>
              <a:rPr sz="2700" b="1">
                <a:solidFill>
                  <a:srgbClr val="63738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80F35-234E-4813-A455-39D1C420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81150"/>
            <a:ext cx="2952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5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2EDD5-C88A-4740-B7B4-2344900B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9070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A8A8"/>
                </a:solidFill>
              </a:defRPr>
            </a:pPr>
            <a:r>
              <a:rPr sz="2850" b="1">
                <a:solidFill>
                  <a:srgbClr val="00A8A8"/>
                </a:solidFill>
              </a:rPr>
              <a:t>8 / 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7B0B7-A6F2-4269-A54D-CBB5C9A4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Candidate replies with correct flight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60820-95D1-4B7C-B096-48472485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81150"/>
            <a:ext cx="37528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11E0E-D8AA-4C1B-9C10-EC1DB531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3409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77F2"/>
                </a:solidFill>
              </a:defRPr>
            </a:pPr>
            <a:r>
              <a:rPr sz="2850" b="1">
                <a:solidFill>
                  <a:srgbClr val="1877F2"/>
                </a:solidFill>
              </a:rPr>
              <a:t>+88.89 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70351-ECC7-40ED-A4C5-84384C45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409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E2 flight-direction improvement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897AE-9134-47C1-B7D3-5ECF3078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578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2703B-9C83-4129-B837-7EDEEEC5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6200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C7304-9307-4036-801D-F7F890FE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No rate regressions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49618-57F1-4D29-BCD9-311CCDDF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4857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E1 groundedness: 33/33 vs 33/33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E4 day count: 0/3 vs 0/3, known backlog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Other measured rate-based evals: unchanged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09029-EEED-45B2-978D-58F8A649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90900"/>
            <a:ext cx="5410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A0AB8-A96A-4042-925D-D2D41D97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90900"/>
            <a:ext cx="76200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0B3D8A-5792-47BC-9D63-54E91094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Operational direction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8DBE1-76F8-481E-B7DA-1B1C7383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62400"/>
            <a:ext cx="5010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Median latency: 2982 ms → 2753 ms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Estimated run cost: $0.1094 → $0.1056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Tokens: 75,350 → 73,901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3E761-C9C3-4A85-8C38-213936AF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381"/>
                </a:solidFill>
              </a:defRPr>
            </a:pPr>
            <a:r>
              <a:rPr sz="1200" b="0">
                <a:solidFill>
                  <a:srgbClr val="637381"/>
                </a:solidFill>
              </a:rPr>
              <a:t>Denominators differ because applicability depends on the routes the model chose to expose. Report counts with percentages.</a:t>
            </a:r>
          </a:p>
        </p:txBody>
      </p:sp>
    </p:spTree>
    <p:extLst>
      <p:ext uri="{BB962C8B-B14F-4D97-AF65-F5344CB8AC3E}">
        <p14:creationId xmlns:p14="http://schemas.microsoft.com/office/powerpoint/2010/main" val="1836588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0CFFA-AB86-4E03-A1A0-93AC2B22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BOUNDED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2AF4D-28A3-479E-B0AB-8159B3A4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The repair is small enough to explain and reverse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791DB-0C4A-4F0A-95AF-55023FF1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381"/>
                </a:solidFill>
              </a:defRPr>
            </a:pPr>
            <a:r>
              <a:rPr sz="900" b="1">
                <a:solidFill>
                  <a:srgbClr val="637381"/>
                </a:solidFill>
              </a:rPr>
              <a:t>IMPLEMENT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1B4B2-54A3-480A-A6B7-AEE350F2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ARIZE FDE INTERVIEW 2  | 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AD9B4-DC51-48CA-9275-32C5BB47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81"/>
                </a:solidFill>
              </a:defRPr>
            </a:pPr>
            <a:r>
              <a:rPr sz="825" b="1">
                <a:solidFill>
                  <a:srgbClr val="637381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BBD77-2325-4F9E-AB67-33357F2F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762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A7C0E-C4EC-49B8-9855-9BCA5A99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76200" cy="1790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9F79E-3BA4-49DA-9863-C90173DC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4C4CB-DDFB-449E-8ED1-E790AD0B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4362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Match origin and destination as an unordered set. Strip route fields from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443CC-3186-4881-9538-332B3458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526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37381"/>
                </a:solidFill>
              </a:defRPr>
            </a:pPr>
            <a:r>
              <a:rPr sz="3000" b="1">
                <a:solidFill>
                  <a:srgbClr val="637381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3333F-8CD2-417E-A796-65B199B7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00200"/>
            <a:ext cx="49911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5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DD67E-FC02-4FF5-B471-4BD649E2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00200"/>
            <a:ext cx="76200" cy="1790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46786-46FF-41E2-9132-29ECBC00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716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Candidate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5A255-E94F-44D1-A97B-F4A15680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71700"/>
            <a:ext cx="4591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Match origin and destination in order. Preserve route fields so the model can verify them.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55019-5E00-4B38-8A9C-862E9C19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F0946-E401-4FB1-B1F4-03F26DB9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657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CDCFA-F2B9-4B22-B6E0-2EA176B5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6700"/>
                </a:solidFill>
              </a:defRPr>
            </a:pPr>
            <a:r>
              <a:rPr sz="975" b="1">
                <a:solidFill>
                  <a:srgbClr val="9A6700"/>
                </a:solidFill>
              </a:rPr>
              <a:t>LOW COMPLEXITY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1FDEF-0AE5-4A7A-A4CC-E6E25C60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386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One tool path, behind FLIGHT_TOOL_FIX, versioned on spans, compared against the unchanged control arm.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DE7B6-4FE1-4AF7-9BF1-0A65F22D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48200"/>
            <a:ext cx="834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The system prompt candidate is evaluated separately. The model was not changed as an unmeasured fix.</a:t>
            </a:r>
          </a:p>
        </p:txBody>
      </p:sp>
    </p:spTree>
    <p:extLst>
      <p:ext uri="{BB962C8B-B14F-4D97-AF65-F5344CB8AC3E}">
        <p14:creationId xmlns:p14="http://schemas.microsoft.com/office/powerpoint/2010/main" val="14155919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260A4-8C56-49C6-A6A9-F1C31750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EVIDENCE INTEGRITY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ED5B6-CFEC-4B7A-88A3-A0A65091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A credible evaluator must be willing to invalidate its own 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4C0F9-0A98-4B80-8B69-D91E6F21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381"/>
                </a:solidFill>
              </a:defRPr>
            </a:pPr>
            <a:r>
              <a:rPr sz="900" b="1">
                <a:solidFill>
                  <a:srgbClr val="637381"/>
                </a:solidFill>
              </a:rPr>
              <a:t>ADJUDICATE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0C035-9355-4606-835F-B0D9D3DC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ARIZE FDE INTERVIEW 2  | 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E46AA-0B67-4589-A655-9193B1FF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81"/>
                </a:solidFill>
              </a:defRPr>
            </a:pPr>
            <a:r>
              <a:rPr sz="825" b="1">
                <a:solidFill>
                  <a:srgbClr val="637381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5F343-9AC9-4F43-81E4-637CD0BE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B3A12-F4F4-422D-9958-90F2C0BB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1F4D9-4C2F-42BC-8DE9-DB698E09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What looked good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CE927-5AD7-4979-839F-360D626B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933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The first comparison appeared to improve groundedness from 97% to 100%.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5B94D-3DD1-4052-BA3A-74998823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0CE44-F995-45C7-B81F-D95E9886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C9860-DD8B-4DC6-9298-8B51B092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907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What was actually wrong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D840C-753C-45C2-AE4D-C04074C0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2933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The extractor treated the heading “Hotel Options” as a fabricated hotel. The two real hotels beneath it were valid.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D7C3F-1DCF-441E-8542-09219AD3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3528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5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9BA3A-5A0E-4092-8502-210AD6FF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D5688-3C71-445D-8B01-6C5EE98F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90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What we report now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6ACD9-0FAA-4F19-9A77-0E549E0D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295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E1 is 100% in both arms, a 0 percentage-point delta. The false headline was removed and pinned by tests.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945C3-38F1-4B9A-8CEC-6355773D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This is the difference between a dashboard and an evaluation system: failures in the grader are defects too.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1019EB-C4BE-4353-A98C-3554945F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29200"/>
            <a:ext cx="1562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8AF2F-9994-4E49-815D-FE030BEC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863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215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F42E0-384E-440A-8B86-EBF39F1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29200"/>
            <a:ext cx="1657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2B2838-E0F6-4E6C-912A-E3F37031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863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8A8"/>
                </a:solidFill>
              </a:defRPr>
            </a:pPr>
            <a:r>
              <a:rPr sz="975" b="1">
                <a:solidFill>
                  <a:srgbClr val="00A8A8"/>
                </a:solidFill>
              </a:rPr>
              <a:t>CI PASSING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B436F5-49C1-4122-99EC-44D39661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292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28C966-C42F-4803-A3D9-F0F2FF2A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86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6700"/>
                </a:solidFill>
              </a:defRPr>
            </a:pPr>
            <a:r>
              <a:rPr sz="975" b="1">
                <a:solidFill>
                  <a:srgbClr val="9A6700"/>
                </a:solidFill>
              </a:rPr>
              <a:t>EVIDENCE ON DISK</a:t>
            </a:r>
          </a:p>
        </p:txBody>
      </p:sp>
    </p:spTree>
    <p:extLst>
      <p:ext uri="{BB962C8B-B14F-4D97-AF65-F5344CB8AC3E}">
        <p14:creationId xmlns:p14="http://schemas.microsoft.com/office/powerpoint/2010/main" val="14577643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675A5-6115-457B-9F1B-02C61A17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HONEST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4B067-70AE-4459-BDC8-812FEE60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Measured evidence and corrected code are not the same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432F4-DE1E-424D-9A5C-97279097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381"/>
                </a:solidFill>
              </a:defRPr>
            </a:pPr>
            <a:r>
              <a:rPr sz="900" b="1">
                <a:solidFill>
                  <a:srgbClr val="637381"/>
                </a:solidFill>
              </a:rPr>
              <a:t>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77586-D6D1-4E16-9C47-3A4990D0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ARIZE FDE INTERVIEW 2  | 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28111-A5C1-4CD3-8580-0866CF44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81"/>
                </a:solidFill>
              </a:defRPr>
            </a:pPr>
            <a:r>
              <a:rPr sz="825" b="1">
                <a:solidFill>
                  <a:srgbClr val="637381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57F8A-0894-4A24-B6C2-15459A37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47FFA-530C-4D50-9D4F-F6B2E271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6200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CDDCD-CE27-483A-B546-5B45B3A1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Measured in the captured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38BE9-524F-4112-8909-D844E9B5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0289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The original 33-turn dataset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Experiment redaction explicitly off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Flight-direction improvement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Human gate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B5671-AAE5-446E-98A1-808996DD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5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F9D54-CB30-4FC2-B200-70D84D67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76200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D5E50-2B42-4216-93D0-385261F8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76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Corrected after the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47842-EF9F-4634-A681-D97C1A5D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30289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The curated dataset is now passed into propose and experiment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Experiment replay now defaults to source redaction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Both changes have focused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28ADD-D7E5-4438-B787-2F7BB25F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049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47789-2330-4078-9E9A-E2ACBF7D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04950"/>
            <a:ext cx="76200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588ED-8B44-4661-8542-AD76ACD9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Still required before promotion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619D8-E803-42B5-94EA-4673A3EB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30289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Run a fresh clean experiment on the curated dataset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Review customer calibration labels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Confirm the numeric release bar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Approve or reject with a 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846BA-5C2A-49C8-8FC5-FC422CB4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4E68"/>
                </a:solidFill>
              </a:defRPr>
            </a:pPr>
            <a:r>
              <a:rPr sz="1500" b="1">
                <a:solidFill>
                  <a:srgbClr val="334E68"/>
                </a:solidFill>
              </a:rPr>
              <a:t>No retroactive rewrite: the historical run remains evidence of what it actually executed.</a:t>
            </a:r>
          </a:p>
        </p:txBody>
      </p:sp>
    </p:spTree>
    <p:extLst>
      <p:ext uri="{BB962C8B-B14F-4D97-AF65-F5344CB8AC3E}">
        <p14:creationId xmlns:p14="http://schemas.microsoft.com/office/powerpoint/2010/main" val="7350116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A634C4-7FBA-4930-84B1-1E711E3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BEYOND THE INTERVIEW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79A6D-EC01-4974-A1B7-8CD01377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Production separates data, evaluation, and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CDBBB-18AA-48FA-A679-90C6CCCE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381"/>
                </a:solidFill>
              </a:defRPr>
            </a:pPr>
            <a:r>
              <a:rPr sz="900" b="1">
                <a:solidFill>
                  <a:srgbClr val="637381"/>
                </a:solidFill>
              </a:rPr>
              <a:t>OPERATE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D4667-BA91-4EA7-B6F4-A1A8BEBC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ARIZE FDE INTERVIEW 2  | 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ECE1B-DF08-448C-9B7F-8593DAF8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81"/>
                </a:solidFill>
              </a:defRPr>
            </a:pPr>
            <a:r>
              <a:rPr sz="825" b="1">
                <a:solidFill>
                  <a:srgbClr val="637381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FC8EB-7BAE-471D-9144-3E57FCD2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581150" cy="16192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3ADDC-9ECC-4421-90FC-86E6EF79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78473-49AC-400A-94C0-DFE06A6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Serving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04F44-2362-4389-AFF6-45FC3E98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181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PII redaction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version tags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16FFD-9515-498A-A459-EFC03D3F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37381"/>
                </a:solidFill>
              </a:defRPr>
            </a:pPr>
            <a:r>
              <a:rPr sz="1650" b="1">
                <a:solidFill>
                  <a:srgbClr val="637381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F6665-FBA1-4171-8767-D8440F43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14500"/>
            <a:ext cx="1581150" cy="16192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C4DD4-B53C-4E8F-B31C-FB0F6876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145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BA00C-32E9-4A6E-A82E-0809D69A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859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Telemetry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DE81C-71FF-432B-ACA6-90049CE6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86000"/>
            <a:ext cx="1181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OI / OTel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spans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D0369-0F71-4AF5-BB61-604C91B6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37381"/>
                </a:solidFill>
              </a:defRPr>
            </a:pPr>
            <a:r>
              <a:rPr sz="1650" b="1">
                <a:solidFill>
                  <a:srgbClr val="637381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7A477-29B8-4E3B-B9FE-323BD8BE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1581150" cy="16192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64EAA-8A05-47AA-A328-3B9428C7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591BC1-4006-4BDB-BA45-2312E84E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99AA2-BD11-4EF4-AFEB-B85E4781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1181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AX or Phoenix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eval results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B252B-5C8B-4F56-B926-A1FCD66B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37381"/>
                </a:solidFill>
              </a:defRPr>
            </a:pPr>
            <a:r>
              <a:rPr sz="1650" b="1">
                <a:solidFill>
                  <a:srgbClr val="637381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98682-97C9-4820-BAD7-BB8D7AF1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14500"/>
            <a:ext cx="1581150" cy="16192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370D5-8F1F-4097-8EFF-5509CDF0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145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FB7AF-B84C-4EEB-BA12-5CA055F5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859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Triage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CD4D1A-E4E1-49F3-BC47-490EB147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1181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quarantine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clusters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07FC95-1E76-413C-94F9-097F6663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37381"/>
                </a:solidFill>
              </a:defRPr>
            </a:pPr>
            <a:r>
              <a:rPr sz="1650" b="1">
                <a:solidFill>
                  <a:srgbClr val="637381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D9BAC-AADC-4CFB-BE3C-0FB9D8AA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1581150" cy="16192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93BB2C-433F-4BDD-88F6-DDCB7922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0F4A83-0320-4C5C-9D8D-1290AB8E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859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Replay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73D110-0ACE-4F11-9F77-16FA2755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1181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paired tests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regression suite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D714B2-431C-4E8D-B2B9-FAF8B8DB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37381"/>
                </a:solidFill>
              </a:defRPr>
            </a:pPr>
            <a:r>
              <a:rPr sz="1650" b="1">
                <a:solidFill>
                  <a:srgbClr val="637381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C35C89-3F88-4047-B855-11F7FBF8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14500"/>
            <a:ext cx="1581150" cy="16192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9BC3AA-2CAE-45EC-8F93-FCAA7896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145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B6E474-EAE4-436C-8575-BD676823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Release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B14569-1A81-4F9E-9A7B-7A3418DB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86000"/>
            <a:ext cx="1181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human gate</a:t>
            </a:r>
          </a:p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canary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DC9DBC-34A0-4411-97C3-90E5B92C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1FDDFB-C9BA-4B40-9502-94AD1E05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A7BC28-4535-40C2-9FD6-2522EDF0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Portable by design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96F082-BF4F-4D8D-A7D0-B489E112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933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OpenInference semantic conventions keep the instrumentation compatible with Arize AX and Phoenix self-hosted.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DC8DC8-87C3-4309-AC10-0ED1FCC9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4C7038-5528-4C36-AE1D-9BAD9CF3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25BCF5-10A6-4B02-B8CA-393A7C38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Retention-safe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D348C3-4121-4B8F-8B6F-BD4F3DBB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2933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Traces, scores, explanations, manifests, and approval records are exported to disk when captured.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9B63E6-4943-46F7-861B-DA727A05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9050"/>
            <a:ext cx="3695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A5D198-D5EF-4281-9782-E10EC911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9050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DBEE51-320C-4ACF-AF8C-40459F2F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Business-connected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28944B-B558-41FD-93BB-B868E597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29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In production, join trace and version IDs to booking outcomes before claiming conversion impact.</a:t>
            </a:r>
          </a:p>
        </p:txBody>
      </p:sp>
    </p:spTree>
    <p:extLst>
      <p:ext uri="{BB962C8B-B14F-4D97-AF65-F5344CB8AC3E}">
        <p14:creationId xmlns:p14="http://schemas.microsoft.com/office/powerpoint/2010/main" val="454279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7A1319-EC93-4A68-84EB-5E5FDF9F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RELEASE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1F91F-6827-4758-9241-38379A2F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Promotion is a policy decision backed by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4D316-BA50-4666-8407-442DCA0E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381"/>
                </a:solidFill>
              </a:defRPr>
            </a:pPr>
            <a:r>
              <a:rPr sz="900" b="1">
                <a:solidFill>
                  <a:srgbClr val="637381"/>
                </a:solidFill>
              </a:rPr>
              <a:t>GOVERN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2F703-E107-43A2-A6E7-F591705A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ARIZE FDE INTERVIEW 2  | 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ACA57-FC0A-42DA-A8BF-7F8617F7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81"/>
                </a:solidFill>
              </a:defRPr>
            </a:pPr>
            <a:r>
              <a:rPr sz="825" b="1">
                <a:solidFill>
                  <a:srgbClr val="637381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ED0D2-D3C0-4A05-82B5-84DA9C48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F91CC-8375-48E8-85E3-042480BA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3B3B"/>
                </a:solidFill>
              </a:defRPr>
            </a:pPr>
            <a:r>
              <a:rPr sz="975" b="1">
                <a:solidFill>
                  <a:srgbClr val="C53B3B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CA373-D080-4158-8029-1C163B79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85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Integrity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9C1CD-1BD0-4DAC-A801-F2814D9F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859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Artifacts bind to code, dataset, prompt, and agent versions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E51B0-75C4-4190-9AAD-FD0EDB53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32EFC-9866-455A-B7AB-26181115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3B3B"/>
                </a:solidFill>
              </a:defRPr>
            </a:pPr>
            <a:r>
              <a:rPr sz="975" b="1">
                <a:solidFill>
                  <a:srgbClr val="C53B3B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20448-3223-4338-A7CA-969E47D9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52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Hard invariants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08868-1A26-4784-9D66-C8B52F4E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526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No fabricated inventory, no PII leakage, bounded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3F301-1100-4996-8B39-1D6E3962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E658E-F786-444C-9AE3-4C35446C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E0A56-F94E-4E86-A5AB-D8968610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9289D-E338-42D4-AC1A-0E863D30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No material drop across the deterministic evaluation portfolio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6C114-5DEC-4B22-9F14-10AF3B0D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7B6F2-460E-4FEE-9E60-EF4E24B7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1D0B3-E779-47C8-BDF8-822CCC01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Capability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AD9C94-13E6-4A1B-9F29-464B4668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6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The targeted failure improves on applicable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A10C5C-DC74-4E77-8343-C3A5C1DE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07523-F5D1-4820-81DD-90924D1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CF0693-27B2-47C8-A166-0D20FC2F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62CCF7-30F3-40B8-AB67-BA530C83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529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Latency, tokens, cost, and tool errors remain within budget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FE2E73-8661-43DC-8F34-46FF10B6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4C8265-D1FD-4128-9782-D8FF8BD8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77F2"/>
                </a:solidFill>
              </a:defRPr>
            </a:pPr>
            <a:r>
              <a:rPr sz="975" b="1">
                <a:solidFill>
                  <a:srgbClr val="1877F2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0C834A-25A0-4100-8443-E3220C88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Business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E3E121-D868-43DF-ACD3-587BBF8C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196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Canary outcomes support the intended customer metric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EFA513-BD5F-45B8-A9AC-3F0A7013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66850"/>
            <a:ext cx="1771650" cy="3676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2F1543-65FF-4DBA-BA5A-670B73AE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47850"/>
            <a:ext cx="131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FINAL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E98E4B-DF81-4447-ADD2-A8F47EF0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90850"/>
            <a:ext cx="1314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B942"/>
                </a:solidFill>
              </a:defRPr>
            </a:pPr>
            <a:r>
              <a:rPr sz="2100" b="1">
                <a:solidFill>
                  <a:srgbClr val="F4B942"/>
                </a:solidFill>
              </a:rPr>
              <a:t>HUMAN</a:t>
            </a:r>
          </a:p>
          <a:p xmlns:a="http://schemas.openxmlformats.org/drawingml/2006/main">
            <a:pPr algn="ctr">
              <a:defRPr sz="2100" b="1">
                <a:solidFill>
                  <a:srgbClr val="F4B942"/>
                </a:solidFill>
              </a:defRPr>
            </a:pPr>
            <a:r>
              <a:rPr sz="2100" b="1">
                <a:solidFill>
                  <a:srgbClr val="F4B942"/>
                </a:solidFill>
              </a:rPr>
              <a:t>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BC0C95-38E5-41C4-88BF-933ABB0E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48150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6E8F5"/>
                </a:solidFill>
              </a:defRPr>
            </a:pPr>
            <a:r>
              <a:rPr sz="1125" b="0">
                <a:solidFill>
                  <a:srgbClr val="D6E8F5"/>
                </a:solidFill>
              </a:rPr>
              <a:t>Named owner</a:t>
            </a:r>
          </a:p>
          <a:p xmlns:a="http://schemas.openxmlformats.org/drawingml/2006/main">
            <a:pPr algn="ctr">
              <a:defRPr sz="1125" b="0">
                <a:solidFill>
                  <a:srgbClr val="D6E8F5"/>
                </a:solidFill>
              </a:defRPr>
            </a:pPr>
            <a:r>
              <a:rPr sz="1125" b="0">
                <a:solidFill>
                  <a:srgbClr val="D6E8F5"/>
                </a:solidFill>
              </a:rPr>
              <a:t>and timestamp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E65F3F-7B68-45DF-B89B-B4A6395E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3B3B"/>
                </a:solidFill>
              </a:defRPr>
            </a:pPr>
            <a:r>
              <a:rPr sz="1275" b="1">
                <a:solidFill>
                  <a:srgbClr val="C53B3B"/>
                </a:solidFill>
              </a:rPr>
              <a:t>Current loop output: pending_human_review</a:t>
            </a:r>
          </a:p>
        </p:txBody>
      </p:sp>
    </p:spTree>
    <p:extLst>
      <p:ext uri="{BB962C8B-B14F-4D97-AF65-F5344CB8AC3E}">
        <p14:creationId xmlns:p14="http://schemas.microsoft.com/office/powerpoint/2010/main" val="19669377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F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0AFA4-0A9F-41DF-B631-9F5A7B8E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52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The system around the agent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is the product here.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071B9-8055-420A-8F92-51773F15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2575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2CE4B-91E0-4DA4-9FEC-70F55DCB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7620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6976B-69A6-4A27-A368-316597CA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1  Find the first mistake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08B12-4D3F-492D-B777-90D551AC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Trace-level attribution points to the correct owner and component.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83F45-3C55-470B-84AF-C725A1BA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32575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5486A-F7FA-411D-BDB4-E77D3AB8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7620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18A9A-EE1F-49ED-9ED5-D815B5D4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2  Prove the repair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997F1-736B-41B8-8243-4B138CAB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Deterministic evals and paired replay separate signal from grader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C0EDE-1BB3-4F3D-B1C7-96DB569D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32575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76AA3-3C12-400A-B31E-D4C4D70A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7620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62C0A-9701-4D5B-BEA4-E0BA3BB5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3  Roll out with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65475-73EE-4949-A08A-1F2F23EF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718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A human-owned gate and canary connect offline quality to real booking outcomes.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80078-2205-4592-BCCB-ED1C5BD6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B942"/>
                </a:solidFill>
              </a:defRPr>
            </a:pPr>
            <a:r>
              <a:rPr sz="1650" b="1">
                <a:solidFill>
                  <a:srgbClr val="F4B942"/>
                </a:solidFill>
              </a:rPr>
              <a:t>Measured today: flight direction 1/9 → 8/8, with no rate regressions.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F785E-E9B0-4559-88CD-826795D5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8F5"/>
                </a:solidFill>
              </a:defRPr>
            </a:pPr>
            <a:r>
              <a:rPr sz="1125" b="0">
                <a:solidFill>
                  <a:srgbClr val="D6E8F5"/>
                </a:solidFill>
              </a:rPr>
              <a:t>github.com/ChinmayShringi/arize-fde-travel-agent-evals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07CF4-9336-45D3-86B7-DA14EDA1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531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074525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2026-07-22T01:57:23.4070000Z</dcterms:created>
  <dcterms:modified xsi:type="dcterms:W3CDTF">2026-07-22T01:57:23.4070000Z</dcterms:modified>
</coreProperties>
</file>