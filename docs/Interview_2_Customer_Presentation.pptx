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c7a6de81fec4710" /><Relationship Type="http://schemas.openxmlformats.org/officeDocument/2006/relationships/extended-properties" Target="/docProps/app.xml" Id="R0b2790d6a89141f5" /><Relationship Type="http://schemas.openxmlformats.org/officeDocument/2006/relationships/officeDocument" Target="/ppt/presentation.xml" Id="R7b578636277b41a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22bd7b9619e44e6"/>
  </p:sldMasterIdLst>
  <p:notesMasterIdLst>
    <p:notesMasterId xmlns:r="http://schemas.openxmlformats.org/officeDocument/2006/relationships" r:id="R65efac5b17c3497f"/>
  </p:notesMasterIdLst>
  <p:sldIdLst>
    <p:sldId xmlns:r="http://schemas.openxmlformats.org/officeDocument/2006/relationships" id="256" r:id="Ra4f7fbd8e35b44f3"/>
    <p:sldId xmlns:r="http://schemas.openxmlformats.org/officeDocument/2006/relationships" id="257" r:id="R7fc874ba14cf4828"/>
    <p:sldId xmlns:r="http://schemas.openxmlformats.org/officeDocument/2006/relationships" id="258" r:id="Rbd8c973338be40f9"/>
    <p:sldId xmlns:r="http://schemas.openxmlformats.org/officeDocument/2006/relationships" id="259" r:id="R284c29fd42a04e5b"/>
    <p:sldId xmlns:r="http://schemas.openxmlformats.org/officeDocument/2006/relationships" id="260" r:id="R5a895df41a004347"/>
    <p:sldId xmlns:r="http://schemas.openxmlformats.org/officeDocument/2006/relationships" id="261" r:id="R2cf3a7f44fb24acb"/>
    <p:sldId xmlns:r="http://schemas.openxmlformats.org/officeDocument/2006/relationships" id="262" r:id="R22e26ee66570407f"/>
    <p:sldId xmlns:r="http://schemas.openxmlformats.org/officeDocument/2006/relationships" id="263" r:id="R3ba5b0d97e394683"/>
    <p:sldId xmlns:r="http://schemas.openxmlformats.org/officeDocument/2006/relationships" id="264" r:id="R278d758cc2ce4d08"/>
    <p:sldId xmlns:r="http://schemas.openxmlformats.org/officeDocument/2006/relationships" id="265" r:id="R220225dfce6d473a"/>
    <p:sldId xmlns:r="http://schemas.openxmlformats.org/officeDocument/2006/relationships" id="266" r:id="Rcbb7f185bbf04b0b"/>
    <p:sldId xmlns:r="http://schemas.openxmlformats.org/officeDocument/2006/relationships" id="267" r:id="Ra0931c6cbbdd4b5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b23449c08314798" /><Relationship Type="http://schemas.openxmlformats.org/officeDocument/2006/relationships/slideMaster" Target="/ppt/slideMasters/slideMaster1.xml" Id="R922bd7b9619e44e6" /><Relationship Type="http://schemas.openxmlformats.org/officeDocument/2006/relationships/notesMaster" Target="/ppt/notesMasters/notesMaster1.xml" Id="R65efac5b17c3497f" /><Relationship Type="http://schemas.openxmlformats.org/officeDocument/2006/relationships/presProps" Target="/ppt/presProps.xml" Id="R0a48db983b5747a6" /><Relationship Type="http://schemas.openxmlformats.org/officeDocument/2006/relationships/tableStyles" Target="/ppt/tableStyles.xml" Id="R1012fef7ad2e459a" /><Relationship Type="http://schemas.openxmlformats.org/officeDocument/2006/relationships/slide" Target="/ppt/slides/slide1.xml" Id="Ra4f7fbd8e35b44f3" /><Relationship Type="http://schemas.openxmlformats.org/officeDocument/2006/relationships/slide" Target="/ppt/slides/slide2.xml" Id="R7fc874ba14cf4828" /><Relationship Type="http://schemas.openxmlformats.org/officeDocument/2006/relationships/slide" Target="/ppt/slides/slide3.xml" Id="Rbd8c973338be40f9" /><Relationship Type="http://schemas.openxmlformats.org/officeDocument/2006/relationships/slide" Target="/ppt/slides/slide4.xml" Id="R284c29fd42a04e5b" /><Relationship Type="http://schemas.openxmlformats.org/officeDocument/2006/relationships/slide" Target="/ppt/slides/slide5.xml" Id="R5a895df41a004347" /><Relationship Type="http://schemas.openxmlformats.org/officeDocument/2006/relationships/slide" Target="/ppt/slides/slide6.xml" Id="R2cf3a7f44fb24acb" /><Relationship Type="http://schemas.openxmlformats.org/officeDocument/2006/relationships/slide" Target="/ppt/slides/slide7.xml" Id="R22e26ee66570407f" /><Relationship Type="http://schemas.openxmlformats.org/officeDocument/2006/relationships/slide" Target="/ppt/slides/slide8.xml" Id="R3ba5b0d97e394683" /><Relationship Type="http://schemas.openxmlformats.org/officeDocument/2006/relationships/slide" Target="/ppt/slides/slide9.xml" Id="R278d758cc2ce4d08" /><Relationship Type="http://schemas.openxmlformats.org/officeDocument/2006/relationships/slide" Target="/ppt/slides/slide10.xml" Id="R220225dfce6d473a" /><Relationship Type="http://schemas.openxmlformats.org/officeDocument/2006/relationships/slide" Target="/ppt/slides/slide11.xml" Id="Rcbb7f185bbf04b0b" /><Relationship Type="http://schemas.openxmlformats.org/officeDocument/2006/relationships/slide" Target="/ppt/slides/slide12.xml" Id="Ra0931c6cbbdd4b5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fc898cc71984a1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4cefe6b8a924803" /><Relationship Type="http://schemas.openxmlformats.org/officeDocument/2006/relationships/notesMaster" Target="/ppt/notesMasters/notesMaster1.xml" Id="R2712f220071440c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fb67d567699457e" /><Relationship Type="http://schemas.openxmlformats.org/officeDocument/2006/relationships/notesMaster" Target="/ppt/notesMasters/notesMaster1.xml" Id="R808e0d061cfe47a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b4846a6856d4b12" /><Relationship Type="http://schemas.openxmlformats.org/officeDocument/2006/relationships/notesMaster" Target="/ppt/notesMasters/notesMaster1.xml" Id="R5c3b899de938451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f82302db2304917" /><Relationship Type="http://schemas.openxmlformats.org/officeDocument/2006/relationships/notesMaster" Target="/ppt/notesMasters/notesMaster1.xml" Id="Raa6a0d7d0dbe4d0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62e67a5a54e4d91" /><Relationship Type="http://schemas.openxmlformats.org/officeDocument/2006/relationships/notesMaster" Target="/ppt/notesMasters/notesMaster1.xml" Id="Ra3e6d8ab90424ba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fc01fb826144f68" /><Relationship Type="http://schemas.openxmlformats.org/officeDocument/2006/relationships/notesMaster" Target="/ppt/notesMasters/notesMaster1.xml" Id="R9c2cdc64acf84b2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8cbf3d657a64476" /><Relationship Type="http://schemas.openxmlformats.org/officeDocument/2006/relationships/notesMaster" Target="/ppt/notesMasters/notesMaster1.xml" Id="Rdc2e6c29c2524ae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ae50fbbe7244821" /><Relationship Type="http://schemas.openxmlformats.org/officeDocument/2006/relationships/notesMaster" Target="/ppt/notesMasters/notesMaster1.xml" Id="R87567374a6864f0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afd47b74d834aed" /><Relationship Type="http://schemas.openxmlformats.org/officeDocument/2006/relationships/notesMaster" Target="/ppt/notesMasters/notesMaster1.xml" Id="Rc6c0f5cc4e61468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ecb752092834141" /><Relationship Type="http://schemas.openxmlformats.org/officeDocument/2006/relationships/notesMaster" Target="/ppt/notesMasters/notesMaster1.xml" Id="Rec3481c318214ca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277a5cfb657493c" /><Relationship Type="http://schemas.openxmlformats.org/officeDocument/2006/relationships/notesMaster" Target="/ppt/notesMasters/notesMaster1.xml" Id="R092cca018fe84d4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d02aa5f2fbe4211" /><Relationship Type="http://schemas.openxmlformats.org/officeDocument/2006/relationships/notesMaster" Target="/ppt/notesMasters/notesMaster1.xml" Id="R487308eacb2a494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16b2a262554aa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a490e763c2744cc" /><Relationship Type="http://schemas.openxmlformats.org/officeDocument/2006/relationships/slideLayout" Target="/ppt/slideLayouts/slideLayout1.xml" Id="Re0f304e8d4e94e0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0f304e8d4e94e0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c00c26bc1b4db5" /><Relationship Type="http://schemas.openxmlformats.org/officeDocument/2006/relationships/notesSlide" Target="/ppt/notesSlides/notesSlide1.xml" Id="Rc281dd30f6b840b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26ac890a6b4183" /><Relationship Type="http://schemas.openxmlformats.org/officeDocument/2006/relationships/notesSlide" Target="/ppt/notesSlides/notesSlide2.xml" Id="Re043d4a4dca7492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129e1ae2b84e68" /><Relationship Type="http://schemas.openxmlformats.org/officeDocument/2006/relationships/notesSlide" Target="/ppt/notesSlides/notesSlide3.xml" Id="R598cf4d0a83b419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187b9e85d14866" /><Relationship Type="http://schemas.openxmlformats.org/officeDocument/2006/relationships/notesSlide" Target="/ppt/notesSlides/notesSlide4.xml" Id="R694cf5f6434d445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ee5c3e604947a5" /><Relationship Type="http://schemas.openxmlformats.org/officeDocument/2006/relationships/notesSlide" Target="/ppt/notesSlides/notesSlide5.xml" Id="Rb8f05fc79d25419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1701e92c4346e3" /><Relationship Type="http://schemas.openxmlformats.org/officeDocument/2006/relationships/notesSlide" Target="/ppt/notesSlides/notesSlide6.xml" Id="R816cd54fd034473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d4c52275094d49" /><Relationship Type="http://schemas.openxmlformats.org/officeDocument/2006/relationships/notesSlide" Target="/ppt/notesSlides/notesSlide7.xml" Id="R031c75de50fe45b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d05548cdfa4a48" /><Relationship Type="http://schemas.openxmlformats.org/officeDocument/2006/relationships/notesSlide" Target="/ppt/notesSlides/notesSlide8.xml" Id="Re926365b1ade488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5bf240399d4392" /><Relationship Type="http://schemas.openxmlformats.org/officeDocument/2006/relationships/notesSlide" Target="/ppt/notesSlides/notesSlide9.xml" Id="R213b26342490462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947f15e2cf48f1" /><Relationship Type="http://schemas.openxmlformats.org/officeDocument/2006/relationships/notesSlide" Target="/ppt/notesSlides/notesSlide10.xml" Id="Rf5d90a3d8c9b4a9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c236d805a84d62" /><Relationship Type="http://schemas.openxmlformats.org/officeDocument/2006/relationships/notesSlide" Target="/ppt/notesSlides/notesSlide11.xml" Id="R6936620037ba494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b1ae2290cc4390" /><Relationship Type="http://schemas.openxmlformats.org/officeDocument/2006/relationships/notesSlide" Target="/ppt/notesSlides/notesSlide12.xml" Id="R3fc5f2259af7441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3F5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2E1958-A782-49ED-A7D4-A6E047476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2324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59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C3E7AA-F813-4FEC-8DDD-83B665E99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85800"/>
            <a:ext cx="2133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CUSTOMER WORKING SESSION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D2FBC5-CDB6-4816-949E-C8726B01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7524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A safer improvement loop</a:t>
            </a:r>
          </a:p>
          <a:p xmlns:a="http://schemas.openxmlformats.org/drawingml/2006/main">
            <a:pPr algn="l"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for your travel agent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C54908-CA34-44F2-A066-8C6637D88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14700"/>
            <a:ext cx="685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6E8F5"/>
                </a:solidFill>
              </a:defRPr>
            </a:pPr>
            <a:r>
              <a:rPr sz="1725" b="0">
                <a:solidFill>
                  <a:srgbClr val="D6E8F5"/>
                </a:solidFill>
              </a:rPr>
              <a:t>Measure the first mistake. Prove the repair. Roll out with control.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164EE3-3D8B-475F-A0E8-644AAD9CB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895350"/>
            <a:ext cx="2781300" cy="45529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214E6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A2AE54-FA62-4DCB-97E6-9BE784A4C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257300"/>
            <a:ext cx="200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4B942"/>
                </a:solidFill>
              </a:defRPr>
            </a:pPr>
            <a:r>
              <a:rPr sz="3150" b="1">
                <a:solidFill>
                  <a:srgbClr val="F4B94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92A8AD-5CD3-46D4-A4F3-7E53C1518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92405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Trace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5253A9-8771-480B-BBFE-EEDD893BA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266950"/>
            <a:ext cx="200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6E8F5"/>
                </a:solidFill>
              </a:defRPr>
            </a:pPr>
            <a:r>
              <a:rPr sz="1200" b="0">
                <a:solidFill>
                  <a:srgbClr val="D6E8F5"/>
                </a:solidFill>
              </a:rPr>
              <a:t>Find the earliest failure in the chain.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4A3EC0-C5D3-434A-AB85-428530E2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105150"/>
            <a:ext cx="200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4B942"/>
                </a:solidFill>
              </a:defRPr>
            </a:pPr>
            <a:r>
              <a:rPr sz="3150" b="1">
                <a:solidFill>
                  <a:srgbClr val="F4B942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99F9F2-BB41-4B59-BBAB-B85D8FE88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7719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Evaluate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D7351B-8B07-4C78-9100-31A186B62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114800"/>
            <a:ext cx="200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6E8F5"/>
                </a:solidFill>
              </a:defRPr>
            </a:pPr>
            <a:r>
              <a:rPr sz="1200" b="0">
                <a:solidFill>
                  <a:srgbClr val="D6E8F5"/>
                </a:solidFill>
              </a:rPr>
              <a:t>Use deterministic checks before model judges.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A66238-97F6-4395-9F3C-575CA03F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15050"/>
            <a:ext cx="590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6E8F5"/>
                </a:solidFill>
              </a:defRPr>
            </a:pPr>
            <a:r>
              <a:rPr sz="1125" b="0">
                <a:solidFill>
                  <a:srgbClr val="D6E8F5"/>
                </a:solidFill>
              </a:rPr>
              <a:t>Sariya Rizwan  |  Forward Deployed AI Engineer</a:t>
            </a:r>
          </a:p>
        </p:txBody>
      </p:sp>
    </p:spTree>
    <p:extLst>
      <p:ext uri="{BB962C8B-B14F-4D97-AF65-F5344CB8AC3E}">
        <p14:creationId xmlns:p14="http://schemas.microsoft.com/office/powerpoint/2010/main" val="70062833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C98BD3-9FDD-4A8C-B5F9-01CB0BCA7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877F2"/>
                </a:solidFill>
              </a:defRPr>
            </a:pPr>
            <a:r>
              <a:rPr sz="975" b="1">
                <a:solidFill>
                  <a:srgbClr val="1877F2"/>
                </a:solidFill>
              </a:rPr>
              <a:t>WHAT YOU ASKED FOR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15C565-6C75-43A6-BDD8-B9AB42E17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02A43"/>
                </a:solidFill>
              </a:defRPr>
            </a:pPr>
            <a:r>
              <a:rPr sz="2625" b="1">
                <a:solidFill>
                  <a:srgbClr val="102A43"/>
                </a:solidFill>
              </a:rPr>
              <a:t>The business goal, translated into system requirements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2A4ECA-9767-4276-88D5-F6F65F32C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000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37381"/>
                </a:solidFill>
              </a:defRPr>
            </a:pPr>
            <a:r>
              <a:rPr sz="900" b="1">
                <a:solidFill>
                  <a:srgbClr val="637381"/>
                </a:solidFill>
              </a:rPr>
              <a:t>DISCOVERY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9C6050-B7CB-4B82-B92B-62241B931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37381"/>
                </a:solidFill>
              </a:defRPr>
            </a:pPr>
            <a:r>
              <a:rPr sz="825" b="0">
                <a:solidFill>
                  <a:srgbClr val="637381"/>
                </a:solidFill>
              </a:rPr>
              <a:t>ARIZE FDE INTERVIEW 2  |  JULY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3C8618-0038-4E12-AC72-8EAA1165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67475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37381"/>
                </a:solidFill>
              </a:defRPr>
            </a:pPr>
            <a:r>
              <a:rPr sz="825" b="1">
                <a:solidFill>
                  <a:srgbClr val="637381"/>
                </a:solidFill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004F57-6FCD-4C34-868E-054D4BC8D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342900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E7DEA3-4807-447E-AA8E-EEC7E375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76200" cy="2076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77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0D6C5B-6AC4-4A54-BFBF-A3089877F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76400"/>
            <a:ext cx="3028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Product outcome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761700-1D89-4412-B986-FED7A2973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30289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Increase booking conversion. Until booking exists, grounded answers and correct tool use are leading indicators, not the business KPI itself.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B60CEB-2B22-4EC9-9D44-83CFB0367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504950"/>
            <a:ext cx="342900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352DAD-9F74-48F4-87B5-203EDFF23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504950"/>
            <a:ext cx="76200" cy="2076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F929B2-E62B-447F-A697-EBA2D55F8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676400"/>
            <a:ext cx="3028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Quality operation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40B6FE-C32F-44FF-A536-18FF4D732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076450"/>
            <a:ext cx="30289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Replace manual spot checks with repeatable evaluations, failure triage, and a reviewable improvement proposal.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EAD4C9-8292-4C10-B262-D3926CED1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04950"/>
            <a:ext cx="342900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1C844D-CCD0-4AA0-BAD7-52D9477BF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04950"/>
            <a:ext cx="76200" cy="2076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C993F3-4848-4E0A-B079-86D784A65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76400"/>
            <a:ext cx="3028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Engineering constraint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BF1B36-CAEA-458D-A892-664630FA7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76450"/>
            <a:ext cx="30289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Keep the homegrown agent. Trace planning to itinerary to booking, block PII at source, and prevent fabricated inventory.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E5229B-E5C2-4FC9-8A56-35160316E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1524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5F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1BA6A6-1ACF-4679-92D4-8C675E530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76700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0A8A8"/>
                </a:solidFill>
              </a:defRPr>
            </a:pPr>
            <a:r>
              <a:rPr sz="975" b="1">
                <a:solidFill>
                  <a:srgbClr val="00A8A8"/>
                </a:solidFill>
              </a:rPr>
              <a:t>ANCHOR WORKFLOW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C8E52F-EB4C-40B7-B24E-AA64886F2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161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Planning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3D469D-3B8F-4093-86B0-3F9156C88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552950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877F2"/>
                </a:solidFill>
              </a:defRPr>
            </a:pPr>
            <a:r>
              <a:rPr sz="2250" b="1">
                <a:solidFill>
                  <a:srgbClr val="1877F2"/>
                </a:solidFill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F235DD-5B50-477B-BE6E-37FD856BB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5720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Itinerary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389C19-78F9-4C8B-A4F4-87B23553C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552950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877F2"/>
                </a:solidFill>
              </a:defRPr>
            </a:pPr>
            <a:r>
              <a:rPr sz="2250" b="1">
                <a:solidFill>
                  <a:srgbClr val="1877F2"/>
                </a:solidFill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BF1C74-C7BC-4955-B9F7-3B0CB9EB0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572000"/>
            <a:ext cx="161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Booking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5D01172-D8D7-4E66-B3EF-E8D6CC0D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34E68"/>
                </a:solidFill>
              </a:defRPr>
            </a:pPr>
            <a:r>
              <a:rPr sz="1350" b="0">
                <a:solidFill>
                  <a:srgbClr val="334E68"/>
                </a:solidFill>
              </a:rPr>
              <a:t>Prototype boundary: no booking or payment tool exists, so conversion was not measured.</a:t>
            </a:r>
          </a:p>
        </p:txBody>
      </p:sp>
    </p:spTree>
    <p:extLst>
      <p:ext uri="{BB962C8B-B14F-4D97-AF65-F5344CB8AC3E}">
        <p14:creationId xmlns:p14="http://schemas.microsoft.com/office/powerpoint/2010/main" val="1987964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4276A9-8354-4A47-83C2-898827651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877F2"/>
                </a:solidFill>
              </a:defRPr>
            </a:pPr>
            <a:r>
              <a:rPr sz="975" b="1">
                <a:solidFill>
                  <a:srgbClr val="1877F2"/>
                </a:solidFill>
              </a:rPr>
              <a:t>TRACE ATTRIBUTION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A7C149-430D-431F-AD46-61B77F689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02A43"/>
                </a:solidFill>
              </a:defRPr>
            </a:pPr>
            <a:r>
              <a:rPr sz="2625" b="1">
                <a:solidFill>
                  <a:srgbClr val="102A43"/>
                </a:solidFill>
              </a:rPr>
              <a:t>The defect began in the flight tool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1C9353-E1AD-4A25-BB9E-EA2E9D73D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000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37381"/>
                </a:solidFill>
              </a:defRPr>
            </a:pPr>
            <a:r>
              <a:rPr sz="900" b="1">
                <a:solidFill>
                  <a:srgbClr val="637381"/>
                </a:solidFill>
              </a:rPr>
              <a:t>DIAGNOSE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A51F89-6333-40A9-A68B-8C023CE5F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37381"/>
                </a:solidFill>
              </a:defRPr>
            </a:pPr>
            <a:r>
              <a:rPr sz="825" b="0">
                <a:solidFill>
                  <a:srgbClr val="637381"/>
                </a:solidFill>
              </a:rPr>
              <a:t>ARIZE FDE INTERVIEW 2  |  JULY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A62185-036D-4374-AD8E-B66F06AD0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67475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37381"/>
                </a:solidFill>
              </a:defRPr>
            </a:pPr>
            <a:r>
              <a:rPr sz="825" b="1">
                <a:solidFill>
                  <a:srgbClr val="637381"/>
                </a:solidFill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3D3B7A-29C2-4363-B7D2-39DC1FB7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66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829770-FFB2-4E73-8445-FFFE83FDC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81150"/>
            <a:ext cx="876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877F2"/>
                </a:solidFill>
              </a:defRPr>
            </a:pPr>
            <a:r>
              <a:rPr sz="975" b="1">
                <a:solidFill>
                  <a:srgbClr val="1877F2"/>
                </a:solidFill>
              </a:rPr>
              <a:t>REQUEST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241D3C-FAF2-4E12-A70A-751E1B9C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</a:defRPr>
            </a:pPr>
            <a:r>
              <a:rPr sz="1875" b="1">
                <a:solidFill>
                  <a:srgbClr val="102A43"/>
                </a:solidFill>
              </a:rPr>
              <a:t>Tokyo → Los Angeles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308B5A-487A-47CF-B166-EDFC4B28C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3429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34E68"/>
                </a:solidFill>
              </a:defRPr>
            </a:pPr>
            <a:r>
              <a:rPr sz="1350" b="0">
                <a:solidFill>
                  <a:srgbClr val="334E68"/>
                </a:solidFill>
              </a:rPr>
              <a:t>The tool ignored direction, treated the route as an unordered set, and removed origin and destination from the returned payload.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12118E-22BB-44E2-A3E6-48768A176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524000"/>
            <a:ext cx="20955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5F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BA6D00-3B06-4D8B-8BCA-AA8BC5E03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524000"/>
            <a:ext cx="76200" cy="1257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196F1C-7BED-4809-B672-33E40FCEE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95450"/>
            <a:ext cx="1695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1  User intent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FDA133-FF1A-49CF-B54A-BC95B1BBC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095500"/>
            <a:ext cx="1695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Correct route and travel date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0E0871-7A09-41FA-A72A-564A37449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524000"/>
            <a:ext cx="20955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4786CF-E5AC-4C90-975B-98F12BAA1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524000"/>
            <a:ext cx="76200" cy="1257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53B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465F40-55A0-4E91-99C1-B130CFE34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695450"/>
            <a:ext cx="1695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2  Tool result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41D8AB-D115-462D-AAED-CCD8B7FFD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095500"/>
            <a:ext cx="1695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Backwards flight, with direction hidden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2E111D-34A7-44B9-B4EA-306C2E753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524000"/>
            <a:ext cx="2190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4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B65A18-34A7-493D-A32C-23711C27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524000"/>
            <a:ext cx="76200" cy="1257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0A0C40-CAD8-4D0A-B3C5-C3BCF1093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9545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3  Model reply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0452EB-6FBE-4E68-8529-1CB8EF620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095500"/>
            <a:ext cx="17907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Cannot reliably detect the upstream mismatch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9793F3-48EC-43B3-8E8E-64E31B5C8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219450"/>
            <a:ext cx="7105650" cy="17526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8E00CC-C47C-4F14-A2E4-6D2F28420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4290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3B3B"/>
                </a:solidFill>
              </a:defRPr>
            </a:pPr>
            <a:r>
              <a:rPr sz="1350" b="1">
                <a:solidFill>
                  <a:srgbClr val="C53B3B"/>
                </a:solidFill>
              </a:rPr>
              <a:t>Why this matters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DB288E-791C-4E79-A4E0-85CCC5903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848100"/>
            <a:ext cx="647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A reply-only hallucination score can blame the model for a defect introduced by the tool. Span-level attribution tells the team where to intervene first.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3379C0-2505-4D1A-B160-ECADEB481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334000"/>
            <a:ext cx="7105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37381"/>
                </a:solidFill>
              </a:defRPr>
            </a:pPr>
            <a:r>
              <a:rPr sz="1050" b="0">
                <a:solidFill>
                  <a:srgbClr val="637381"/>
                </a:solidFill>
              </a:rPr>
              <a:t>Evidence: search_flights code path plus captured E2 failures.</a:t>
            </a:r>
          </a:p>
        </p:txBody>
      </p:sp>
    </p:spTree>
    <p:extLst>
      <p:ext uri="{BB962C8B-B14F-4D97-AF65-F5344CB8AC3E}">
        <p14:creationId xmlns:p14="http://schemas.microsoft.com/office/powerpoint/2010/main" val="2029215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60A2B2-9FC2-494F-957D-23332EB7E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877F2"/>
                </a:solidFill>
              </a:defRPr>
            </a:pPr>
            <a:r>
              <a:rPr sz="975" b="1">
                <a:solidFill>
                  <a:srgbClr val="1877F2"/>
                </a:solidFill>
              </a:rPr>
              <a:t>EVALUATION PORTFOLIO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7A5FEE-C731-4BE7-9EAA-205A44DB0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02A43"/>
                </a:solidFill>
              </a:defRPr>
            </a:pPr>
            <a:r>
              <a:rPr sz="2625" b="1">
                <a:solidFill>
                  <a:srgbClr val="102A43"/>
                </a:solidFill>
              </a:rPr>
              <a:t>Deterministic checks first, judges only where judgment is real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9A52C4-BF59-4810-B3FC-A1DE60A10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000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37381"/>
                </a:solidFill>
              </a:defRPr>
            </a:pPr>
            <a:r>
              <a:rPr sz="900" b="1">
                <a:solidFill>
                  <a:srgbClr val="637381"/>
                </a:solidFill>
              </a:rPr>
              <a:t>EVALUATE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2D1D83-3EB9-4FD0-8F56-9D42C88CA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37381"/>
                </a:solidFill>
              </a:defRPr>
            </a:pPr>
            <a:r>
              <a:rPr sz="825" b="0">
                <a:solidFill>
                  <a:srgbClr val="637381"/>
                </a:solidFill>
              </a:rPr>
              <a:t>ARIZE FDE INTERVIEW 2  |  JULY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C4620D-5DE3-464E-9CB7-30A441503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67475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37381"/>
                </a:solidFill>
              </a:defRPr>
            </a:pPr>
            <a:r>
              <a:rPr sz="825" b="1">
                <a:solidFill>
                  <a:srgbClr val="637381"/>
                </a:solidFill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4014DE-6053-4FFC-8C8A-B9777C76C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3429000" cy="348615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EAF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437698-71E9-48BF-9946-9A0945490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76200" cy="3486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77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9B70C7-C2A9-4CCF-8E6F-0A80081C0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76400"/>
            <a:ext cx="3028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Exact, free, reproducible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D1F6AA-2625-4E16-8616-98FC7D208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30289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Grounded entities and prices</a:t>
            </a:r>
          </a:p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Flight direction</a:t>
            </a:r>
          </a:p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Tool argument validity</a:t>
            </a:r>
          </a:p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Itinerary day count</a:t>
            </a:r>
          </a:p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Conflict handling</a:t>
            </a:r>
          </a:p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Token and latency telemetry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A3D66B-91E9-49EC-8C53-0FF599812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504950"/>
            <a:ext cx="3429000" cy="348615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E5F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C19D49-01EE-4FC2-BDEC-65FFC79B9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504950"/>
            <a:ext cx="76200" cy="3486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DAE2C4-A2C6-48CA-9BF3-EE7D72DB1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676400"/>
            <a:ext cx="3028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Model judges, monitor-only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3906F9-4DD4-4013-A445-5BA0CAF5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076450"/>
            <a:ext cx="30289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Clarification quality</a:t>
            </a:r>
          </a:p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Scope and relevance</a:t>
            </a:r>
          </a:p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Tone quality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All remain monitor-only until customer labels provide meaningful negative examples.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CF3872-5876-4987-89F4-4606AD8F2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04950"/>
            <a:ext cx="3429000" cy="348615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4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C46277-41ED-4309-AA24-5221912C2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04950"/>
            <a:ext cx="76200" cy="3486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B539FF-5B2A-4BD6-A02A-DFAB0E998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76400"/>
            <a:ext cx="3028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Human-owned decisions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D0979D-DA02-45E9-A610-80C6259B9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76450"/>
            <a:ext cx="30289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Dataset acceptance</a:t>
            </a:r>
          </a:p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Rubric calibration</a:t>
            </a:r>
          </a:p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Production promotion</a:t>
            </a:r>
          </a:p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Rollback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The loop can propose and compare. It cannot approve itself.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E170C8-A76A-46F6-9DC6-7B696124A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34E68"/>
                </a:solidFill>
              </a:defRPr>
            </a:pPr>
            <a:r>
              <a:rPr sz="1350" b="1">
                <a:solidFill>
                  <a:srgbClr val="334E68"/>
                </a:solidFill>
              </a:rPr>
              <a:t>Rule: when fixtures define the complete inventory, set membership is a stronger groundedness check than an LLM opinion.</a:t>
            </a:r>
          </a:p>
        </p:txBody>
      </p:sp>
    </p:spTree>
    <p:extLst>
      <p:ext uri="{BB962C8B-B14F-4D97-AF65-F5344CB8AC3E}">
        <p14:creationId xmlns:p14="http://schemas.microsoft.com/office/powerpoint/2010/main" val="41939283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FC2034A-DEF4-45A0-B799-EAE8E8BCF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877F2"/>
                </a:solidFill>
              </a:defRPr>
            </a:pPr>
            <a:r>
              <a:rPr sz="975" b="1">
                <a:solidFill>
                  <a:srgbClr val="1877F2"/>
                </a:solidFill>
              </a:rPr>
              <a:t>IMPROVEMENT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5A8F51-5A6F-47A2-9896-57C2A1B64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02A43"/>
                </a:solidFill>
              </a:defRPr>
            </a:pPr>
            <a:r>
              <a:rPr sz="2625" b="1">
                <a:solidFill>
                  <a:srgbClr val="102A43"/>
                </a:solidFill>
              </a:rPr>
              <a:t>One bounded command turns failures into a reviewable experiment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F54BF9-B5A0-40BF-8A37-157C6DAE4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000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37381"/>
                </a:solidFill>
              </a:defRPr>
            </a:pPr>
            <a:r>
              <a:rPr sz="900" b="1">
                <a:solidFill>
                  <a:srgbClr val="637381"/>
                </a:solidFill>
              </a:rPr>
              <a:t>AUTOMATE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3E54F3-9476-4A66-83C4-753BB7FBB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37381"/>
                </a:solidFill>
              </a:defRPr>
            </a:pPr>
            <a:r>
              <a:rPr sz="825" b="0">
                <a:solidFill>
                  <a:srgbClr val="637381"/>
                </a:solidFill>
              </a:rPr>
              <a:t>ARIZE FDE INTERVIEW 2  |  JULY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F1B6B1-AF71-4746-9442-9DD9AD508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67475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37381"/>
                </a:solidFill>
              </a:defRPr>
            </a:pPr>
            <a:r>
              <a:rPr sz="825" b="1">
                <a:solidFill>
                  <a:srgbClr val="637381"/>
                </a:solidFill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E39F4D-8F30-468D-BB5C-4F8BBDEAF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3335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3F0927-0610-405E-A806-95D54EF66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05000"/>
            <a:ext cx="4000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83BABC-7DDC-402B-B776-224C8018D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62150"/>
            <a:ext cx="209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877F2"/>
                </a:solidFill>
              </a:defRPr>
            </a:pPr>
            <a:r>
              <a:rPr sz="975" b="1">
                <a:solidFill>
                  <a:srgbClr val="1877F2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ECE647-8CD1-4C2A-9C32-8E6EB91D4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0030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Collect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183D83-DB47-4C34-B3C9-D28C4A71F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076450"/>
            <a:ext cx="228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637381"/>
                </a:solidFill>
              </a:defRPr>
            </a:pPr>
            <a:r>
              <a:rPr sz="1800" b="1">
                <a:solidFill>
                  <a:srgbClr val="637381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9D6952-39D1-4B51-9BEB-9EF19C7A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771650"/>
            <a:ext cx="13335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D8AE76-4191-47EB-A946-C5708FE5A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905000"/>
            <a:ext cx="4000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7816E5-2A79-41D8-9DB7-DE47FCDC3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962150"/>
            <a:ext cx="209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877F2"/>
                </a:solidFill>
              </a:defRPr>
            </a:pPr>
            <a:r>
              <a:rPr sz="975" b="1">
                <a:solidFill>
                  <a:srgbClr val="1877F2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EBA381-1607-4D1D-A241-B3A5BB859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40030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Evaluate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F4FA37-8CA6-4CBD-A907-D4213472E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76450"/>
            <a:ext cx="228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637381"/>
                </a:solidFill>
              </a:defRPr>
            </a:pPr>
            <a:r>
              <a:rPr sz="1800" b="1">
                <a:solidFill>
                  <a:srgbClr val="637381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AD4680-B429-4479-809C-824E9FFF5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71650"/>
            <a:ext cx="13335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6D251A-3C6E-4712-A58F-D3A8A1B36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905000"/>
            <a:ext cx="4000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F2DF76-0823-49E1-93D3-05FFC9C39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1962150"/>
            <a:ext cx="209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0A8A8"/>
                </a:solidFill>
              </a:defRPr>
            </a:pPr>
            <a:r>
              <a:rPr sz="975" b="1">
                <a:solidFill>
                  <a:srgbClr val="00A8A8"/>
                </a:solidFill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1C4A7D-8FE3-447C-99CA-E532B2A11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40030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Cluster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37DF23-8BD4-483A-8603-A427D86CF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076450"/>
            <a:ext cx="228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637381"/>
                </a:solidFill>
              </a:defRPr>
            </a:pPr>
            <a:r>
              <a:rPr sz="1800" b="1">
                <a:solidFill>
                  <a:srgbClr val="637381"/>
                </a:solidFill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E6F96F-6CE7-4F9B-8301-06B17A6E7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1771650"/>
            <a:ext cx="13335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ED99C4-0C36-41E1-8C9A-08B8A8F76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905000"/>
            <a:ext cx="4000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673DFE-8F87-4241-963B-1FF9EAFAF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962150"/>
            <a:ext cx="209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0A8A8"/>
                </a:solidFill>
              </a:defRPr>
            </a:pPr>
            <a:r>
              <a:rPr sz="975" b="1">
                <a:solidFill>
                  <a:srgbClr val="00A8A8"/>
                </a:solidFill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D24398-5250-45F4-83F8-303F0CF99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40030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Curate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225B25-B2C8-4997-BCC8-576256870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76450"/>
            <a:ext cx="228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637381"/>
                </a:solidFill>
              </a:defRPr>
            </a:pPr>
            <a:r>
              <a:rPr sz="1800" b="1">
                <a:solidFill>
                  <a:srgbClr val="637381"/>
                </a:solidFill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C54AFEC-0C59-4A49-9CB6-F569B2D2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771650"/>
            <a:ext cx="13335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8D22FB5-ABEB-4F66-87F3-05EEBB5EE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905000"/>
            <a:ext cx="4000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BA2224-9A75-4B26-B277-89C58A416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962150"/>
            <a:ext cx="209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4B942"/>
                </a:solidFill>
              </a:defRPr>
            </a:pPr>
            <a:r>
              <a:rPr sz="975" b="1">
                <a:solidFill>
                  <a:srgbClr val="F4B942"/>
                </a:solidFill>
              </a:rPr>
              <a:t>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5C7C726-6CFA-4009-B988-ABAF213CA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40030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Propose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09A5CB7-DB24-445A-B35A-FFCD559D4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76450"/>
            <a:ext cx="228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637381"/>
                </a:solidFill>
              </a:defRPr>
            </a:pPr>
            <a:r>
              <a:rPr sz="1800" b="1">
                <a:solidFill>
                  <a:srgbClr val="637381"/>
                </a:solidFill>
              </a:rPr>
              <a:t>→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C5AD45D-980B-4ADB-B992-5DB31F18E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771650"/>
            <a:ext cx="13335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DCFC001-C60E-4109-B8B1-9D9F0E57A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905000"/>
            <a:ext cx="4000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8F45E0A-1D81-451B-8617-690B1EAE1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962150"/>
            <a:ext cx="209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4B942"/>
                </a:solidFill>
              </a:defRPr>
            </a:pPr>
            <a:r>
              <a:rPr sz="975" b="1">
                <a:solidFill>
                  <a:srgbClr val="F4B942"/>
                </a:solidFill>
              </a:rPr>
              <a:t>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C4C7A6C-94B5-44BF-BEAC-503AF289E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40030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Test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81AD391-849D-407E-94F1-4962E099D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076450"/>
            <a:ext cx="228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637381"/>
                </a:solidFill>
              </a:defRPr>
            </a:pPr>
            <a:r>
              <a:rPr sz="1800" b="1">
                <a:solidFill>
                  <a:srgbClr val="637381"/>
                </a:solidFill>
              </a:rPr>
              <a:t>→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43ACEC6-8D9D-4A92-8246-FADF7CA1D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1771650"/>
            <a:ext cx="13335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131054F-2FC4-4740-9478-51832B9A2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1905000"/>
            <a:ext cx="4000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892A2A7-8D2A-4C34-8EE5-49BABC6CD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1962150"/>
            <a:ext cx="209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C53B3B"/>
                </a:solidFill>
              </a:defRPr>
            </a:pPr>
            <a:r>
              <a:rPr sz="975" b="1">
                <a:solidFill>
                  <a:srgbClr val="C53B3B"/>
                </a:solidFill>
              </a:rPr>
              <a:t>7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C68BC0F-8EF0-4A81-A377-5D9637EAF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40030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Gate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4EF1CDB-E3CC-4941-9850-9E84DF93C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5162550" cy="16764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24820AB-4DD9-45AA-B0F7-794270E69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76200" cy="1676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AA47A47-C9A2-41BA-97CF-E538B2B53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004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Automation boundary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268708B-17B7-4CFF-8C94-4D39C6FD9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00500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Collect through experiment runs without a person in the path. Candidate changes are limited to a prompt change, adding a tool call, or modifying a tool call.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142DD96-2E23-4A80-8EED-EED016C57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29000"/>
            <a:ext cx="5505450" cy="16764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9001EE3-B503-4FFE-9159-E2D8208FC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29000"/>
            <a:ext cx="76200" cy="1676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53B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ED9DAA4-75BC-4A05-A23D-1F3D79950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600450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Authority boundary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BD4E905-D1FD-496F-A57F-FA6F61796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000500"/>
            <a:ext cx="5105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The output is pending_human_review. Promotion and rollback require a named reviewer because the judges are not calibrated for release gating.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301F91F-4134-4C42-9100-F12C304DB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E68"/>
                </a:solidFill>
              </a:defRPr>
            </a:pPr>
            <a:r>
              <a:rPr sz="1275" b="0">
                <a:solidFill>
                  <a:srgbClr val="334E68"/>
                </a:solidFill>
              </a:rPr>
              <a:t>The agent loop itself also has an iteration ceiling and wall-clock deadline, with a non-fabricating fallback.</a:t>
            </a:r>
          </a:p>
        </p:txBody>
      </p:sp>
    </p:spTree>
    <p:extLst>
      <p:ext uri="{BB962C8B-B14F-4D97-AF65-F5344CB8AC3E}">
        <p14:creationId xmlns:p14="http://schemas.microsoft.com/office/powerpoint/2010/main" val="180333670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6337C2-FBE0-4653-BBC4-9C4B443D3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877F2"/>
                </a:solidFill>
              </a:defRPr>
            </a:pPr>
            <a:r>
              <a:rPr sz="975" b="1">
                <a:solidFill>
                  <a:srgbClr val="1877F2"/>
                </a:solidFill>
              </a:rPr>
              <a:t>MEASURED RESULT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BBEE2F-CEAE-46C6-BB3C-0DCDE847B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02A43"/>
                </a:solidFill>
              </a:defRPr>
            </a:pPr>
            <a:r>
              <a:rPr sz="2625" b="1">
                <a:solidFill>
                  <a:srgbClr val="102A43"/>
                </a:solidFill>
              </a:rPr>
              <a:t>The bounded tool fix removed the measured direction failure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EFB7A2-DD34-44AC-9970-6E0B01463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000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37381"/>
                </a:solidFill>
              </a:defRPr>
            </a:pPr>
            <a:r>
              <a:rPr sz="900" b="1">
                <a:solidFill>
                  <a:srgbClr val="637381"/>
                </a:solidFill>
              </a:rPr>
              <a:t>EXPERIMENT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A91C73-3D8B-4A84-9CC8-F8B474444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37381"/>
                </a:solidFill>
              </a:defRPr>
            </a:pPr>
            <a:r>
              <a:rPr sz="825" b="0">
                <a:solidFill>
                  <a:srgbClr val="637381"/>
                </a:solidFill>
              </a:rPr>
              <a:t>ARIZE FDE INTERVIEW 2  |  JULY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9D81B8-C5D2-4395-B2FB-5D09696FC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67475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37381"/>
                </a:solidFill>
              </a:defRPr>
            </a:pPr>
            <a:r>
              <a:rPr sz="825" b="1">
                <a:solidFill>
                  <a:srgbClr val="637381"/>
                </a:solidFill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48FAF7-F488-4370-8297-31EE2A317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29527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1919C5-87AA-4099-B732-126829662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609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C53B3B"/>
                </a:solidFill>
              </a:defRPr>
            </a:pPr>
            <a:r>
              <a:rPr sz="2850" b="1">
                <a:solidFill>
                  <a:srgbClr val="C53B3B"/>
                </a:solidFill>
              </a:rPr>
              <a:t>1 / 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F42044-A071-41EA-93BF-EB8BE1AD1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81250"/>
            <a:ext cx="260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Control replies with correct flight direction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FCA1E9-CBBF-470E-9CDF-CF7FCF1A3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943100"/>
            <a:ext cx="704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637381"/>
                </a:solidFill>
              </a:defRPr>
            </a:pPr>
            <a:r>
              <a:rPr sz="2700" b="1">
                <a:solidFill>
                  <a:srgbClr val="637381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7225C7-3A16-41E0-AE51-9E8045866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581150"/>
            <a:ext cx="29527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E5F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FF7B9D-4B01-4CAE-9412-51399CE61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790700"/>
            <a:ext cx="2609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A8A8"/>
                </a:solidFill>
              </a:defRPr>
            </a:pPr>
            <a:r>
              <a:rPr sz="2850" b="1">
                <a:solidFill>
                  <a:srgbClr val="00A8A8"/>
                </a:solidFill>
              </a:rPr>
              <a:t>8 / 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3DFB55-3680-4B71-90E9-3E56A3D51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381250"/>
            <a:ext cx="260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Candidate replies with correct flight direction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24C3DA-1BAA-47E1-AA46-3F2F21730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81150"/>
            <a:ext cx="37528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EAF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475BEA-0DEA-402D-A73C-9B6994503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790700"/>
            <a:ext cx="3409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877F2"/>
                </a:solidFill>
              </a:defRPr>
            </a:pPr>
            <a:r>
              <a:rPr sz="2850" b="1">
                <a:solidFill>
                  <a:srgbClr val="1877F2"/>
                </a:solidFill>
              </a:rPr>
              <a:t>+88.89 pp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2B5844-851D-4FB1-B6A5-43AF1480F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81250"/>
            <a:ext cx="3409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E2 flight-direction improvement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DE44DC-0088-4DC1-9278-52224F360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90900"/>
            <a:ext cx="5257800" cy="17526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872532-C777-4EE3-B1CB-B767F916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90900"/>
            <a:ext cx="76200" cy="1752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77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766D3F-E206-4A53-AD6A-F62D8723F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62350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No rate regressions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152FF8-DDDF-4C6C-AE6A-8544D9947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62400"/>
            <a:ext cx="4857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E1 groundedness: 33/33 vs 33/33</a:t>
            </a:r>
          </a:p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E4 day count: 0/3 vs 0/3, known backlog</a:t>
            </a:r>
          </a:p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Other measured rate-based evals: unchanged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43BFBC-BBF3-4C71-AC6A-11B71F917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390900"/>
            <a:ext cx="5410200" cy="17526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C51DA5-60F2-4C5C-978C-F18A85C56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390900"/>
            <a:ext cx="76200" cy="1752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F5B836-A536-4834-9D3A-01E4FF0E8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62350"/>
            <a:ext cx="501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Operational direction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0C810C-DC89-4C2F-BF92-6ACAA7312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62400"/>
            <a:ext cx="50101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Median latency: 2982 ms → 2753 ms</a:t>
            </a:r>
          </a:p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Estimated run cost: $0.1094 → $0.1056</a:t>
            </a:r>
          </a:p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Tokens: 75,350 → 73,901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7B622FC-B021-481B-9237-F5454EEB4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37381"/>
                </a:solidFill>
              </a:defRPr>
            </a:pPr>
            <a:r>
              <a:rPr sz="1200" b="0">
                <a:solidFill>
                  <a:srgbClr val="637381"/>
                </a:solidFill>
              </a:rPr>
              <a:t>Denominators differ because applicability depends on the routes the model chose to expose. Report counts with percentages.</a:t>
            </a:r>
          </a:p>
        </p:txBody>
      </p:sp>
    </p:spTree>
    <p:extLst>
      <p:ext uri="{BB962C8B-B14F-4D97-AF65-F5344CB8AC3E}">
        <p14:creationId xmlns:p14="http://schemas.microsoft.com/office/powerpoint/2010/main" val="20732252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5AEE27-9C2C-47A8-B2E0-E800C0024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877F2"/>
                </a:solidFill>
              </a:defRPr>
            </a:pPr>
            <a:r>
              <a:rPr sz="975" b="1">
                <a:solidFill>
                  <a:srgbClr val="1877F2"/>
                </a:solidFill>
              </a:rPr>
              <a:t>BOUNDED CHANGE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444C58-951C-4E79-A7C4-E3BA91F73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02A43"/>
                </a:solidFill>
              </a:defRPr>
            </a:pPr>
            <a:r>
              <a:rPr sz="2625" b="1">
                <a:solidFill>
                  <a:srgbClr val="102A43"/>
                </a:solidFill>
              </a:rPr>
              <a:t>The repair is small enough to explain and reverse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FE2B9B-097B-4F28-A4C8-53C25455B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000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37381"/>
                </a:solidFill>
              </a:defRPr>
            </a:pPr>
            <a:r>
              <a:rPr sz="900" b="1">
                <a:solidFill>
                  <a:srgbClr val="637381"/>
                </a:solidFill>
              </a:rPr>
              <a:t>IMPLEMENT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38B4BB-C344-4A3B-BB0C-566AED875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37381"/>
                </a:solidFill>
              </a:defRPr>
            </a:pPr>
            <a:r>
              <a:rPr sz="825" b="0">
                <a:solidFill>
                  <a:srgbClr val="637381"/>
                </a:solidFill>
              </a:rPr>
              <a:t>ARIZE FDE INTERVIEW 2  |  JULY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752914-15EC-4250-9DE1-99151AB45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67475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37381"/>
                </a:solidFill>
              </a:defRPr>
            </a:pPr>
            <a:r>
              <a:rPr sz="825" b="1">
                <a:solidFill>
                  <a:srgbClr val="637381"/>
                </a:solidFill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10CEDE-4419-4797-AE7F-2B78EC0D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476250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B5DBD8-DB9F-476F-A61F-0FF766FD1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76200" cy="1790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53B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236E0B-A3A2-46D9-8E05-5FB09A192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71650"/>
            <a:ext cx="436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Before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E9CD5B-DE29-41A3-97C2-EF8E30816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71700"/>
            <a:ext cx="43624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Match origin and destination as an unordered set. Strip route fields from the result.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C574E6-2E85-4047-85DE-5840866C8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152650"/>
            <a:ext cx="876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637381"/>
                </a:solidFill>
              </a:defRPr>
            </a:pPr>
            <a:r>
              <a:rPr sz="3000" b="1">
                <a:solidFill>
                  <a:srgbClr val="637381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7D1A04-4662-41C7-A9C2-FFB174C48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600200"/>
            <a:ext cx="499110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5F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32B644-5833-43A6-A7F6-698CA95EF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600200"/>
            <a:ext cx="76200" cy="1790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CB4255-119A-4632-BB1F-1916E3AC6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771650"/>
            <a:ext cx="4591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Candidate 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136743-1EF0-492F-9B2A-6E7BDFE56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171700"/>
            <a:ext cx="45910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Match origin and destination in order. Preserve route fields so the model can verify them.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CA2003-103F-4961-8E9A-3BC805D30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109728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20035B-0F1D-4D12-8E14-95CF431CC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76700"/>
            <a:ext cx="1657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4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522857-C1D3-4AC7-A556-8948A0CC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33850"/>
            <a:ext cx="1466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9A6700"/>
                </a:solidFill>
              </a:defRPr>
            </a:pPr>
            <a:r>
              <a:rPr sz="975" b="1">
                <a:solidFill>
                  <a:srgbClr val="9A6700"/>
                </a:solidFill>
              </a:rPr>
              <a:t>LOW COMPLEXITY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CF6DCB-1401-4B8C-941D-E74E44647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038600"/>
            <a:ext cx="8343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2A43"/>
                </a:solidFill>
              </a:defRPr>
            </a:pPr>
            <a:r>
              <a:rPr sz="1725" b="1">
                <a:solidFill>
                  <a:srgbClr val="102A43"/>
                </a:solidFill>
              </a:rPr>
              <a:t>One tool path, behind FLIGHT_TOOL_FIX, versioned on spans, compared against the unchanged control arm.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34DDD9-8440-43DA-8569-2A9A9B96A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648200"/>
            <a:ext cx="834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The system prompt candidate is evaluated separately. The model was not changed as an unmeasured fix.</a:t>
            </a:r>
          </a:p>
        </p:txBody>
      </p:sp>
    </p:spTree>
    <p:extLst>
      <p:ext uri="{BB962C8B-B14F-4D97-AF65-F5344CB8AC3E}">
        <p14:creationId xmlns:p14="http://schemas.microsoft.com/office/powerpoint/2010/main" val="201925704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A84A22-46ED-4AC4-A7D9-0B98D5523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877F2"/>
                </a:solidFill>
              </a:defRPr>
            </a:pPr>
            <a:r>
              <a:rPr sz="975" b="1">
                <a:solidFill>
                  <a:srgbClr val="1877F2"/>
                </a:solidFill>
              </a:rPr>
              <a:t>EVIDENCE INTEGRITY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C6517E-C40F-4F39-99FD-CAD26AD61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02A43"/>
                </a:solidFill>
              </a:defRPr>
            </a:pPr>
            <a:r>
              <a:rPr sz="2625" b="1">
                <a:solidFill>
                  <a:srgbClr val="102A43"/>
                </a:solidFill>
              </a:rPr>
              <a:t>A credible evaluator must be willing to invalidate its own win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EABB3C-411E-4A87-8814-EE6C0FD54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000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37381"/>
                </a:solidFill>
              </a:defRPr>
            </a:pPr>
            <a:r>
              <a:rPr sz="900" b="1">
                <a:solidFill>
                  <a:srgbClr val="637381"/>
                </a:solidFill>
              </a:rPr>
              <a:t>ADJUDICATE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634172-09E3-4E3B-BDD6-106C49D42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37381"/>
                </a:solidFill>
              </a:defRPr>
            </a:pPr>
            <a:r>
              <a:rPr sz="825" b="0">
                <a:solidFill>
                  <a:srgbClr val="637381"/>
                </a:solidFill>
              </a:rPr>
              <a:t>ARIZE FDE INTERVIEW 2  |  JULY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90A82A-F632-4E9F-AD18-7CD24CEFB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67475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37381"/>
                </a:solidFill>
              </a:defRPr>
            </a:pPr>
            <a:r>
              <a:rPr sz="825" b="1">
                <a:solidFill>
                  <a:srgbClr val="637381"/>
                </a:solidFill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C269A2-0E62-403C-9613-52B0F1061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33337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95B36F-9583-4EDD-8162-F65FA2C2C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76200" cy="1714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77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DD0D04-3DE1-4E2C-85A6-45047ACC0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9070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What looked good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FFFBEA-B0E8-47B8-B6B2-720B20B8F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90750"/>
            <a:ext cx="29337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The first comparison appeared to improve groundedness from 97% to 100%.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2372F0-AC52-4759-9F81-CA53501A6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19250"/>
            <a:ext cx="33337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B31179-8352-4DEE-8C3F-4ECAF86E5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19250"/>
            <a:ext cx="76200" cy="1714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53B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8F2BFA-CD50-4A2C-B4DD-7250B2EBB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79070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What was actually wrong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234D4B-B316-4521-AE56-14B3D1C4A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90750"/>
            <a:ext cx="29337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The extractor treated the heading “Hotel Options” as a fabricated hotel. The two real hotels beneath it were valid.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B40280-E9AE-4121-9AD3-70BDFE1BF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619250"/>
            <a:ext cx="33528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5F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599A37-B416-4DA2-BF87-A02CC3128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619250"/>
            <a:ext cx="76200" cy="1714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89491F-C9D0-4787-8DCD-AEE9C18A8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7907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What we report now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FEC22E-FE37-4F5C-BC00-FBE8EDD8C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190750"/>
            <a:ext cx="2952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E1 is 100% in both arms, a 0 percentage-point delta. The false headline was removed and pinned by tests.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3D8F56-FB8E-454D-8B44-9C6EC87BC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02A43"/>
                </a:solidFill>
              </a:defRPr>
            </a:pPr>
            <a:r>
              <a:rPr sz="2025" b="1">
                <a:solidFill>
                  <a:srgbClr val="102A43"/>
                </a:solidFill>
              </a:rPr>
              <a:t>This is the difference between a dashboard and an evaluation system: failures in the grader are defects too.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4954CD-E693-4615-9664-CDB410AAB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029200"/>
            <a:ext cx="1562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0D59CD-DF12-4CE2-BE05-8B10B28F3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086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877F2"/>
                </a:solidFill>
              </a:defRPr>
            </a:pPr>
            <a:r>
              <a:rPr sz="975" b="1">
                <a:solidFill>
                  <a:srgbClr val="1877F2"/>
                </a:solidFill>
              </a:rPr>
              <a:t>214 TESTS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1A1592-E721-4877-A710-9AEEFAD1B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029200"/>
            <a:ext cx="1657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5F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B1087A-6168-4628-B0A9-FAD89EB5A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5086350"/>
            <a:ext cx="1466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0A8A8"/>
                </a:solidFill>
              </a:defRPr>
            </a:pPr>
            <a:r>
              <a:rPr sz="975" b="1">
                <a:solidFill>
                  <a:srgbClr val="00A8A8"/>
                </a:solidFill>
              </a:rPr>
              <a:t>CI PASSING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374BD4-787B-4F6E-8E50-D3E4A26F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5029200"/>
            <a:ext cx="2000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4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003CD8-6ACD-46FE-829B-1A467705A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0863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9A6700"/>
                </a:solidFill>
              </a:defRPr>
            </a:pPr>
            <a:r>
              <a:rPr sz="975" b="1">
                <a:solidFill>
                  <a:srgbClr val="9A6700"/>
                </a:solidFill>
              </a:rPr>
              <a:t>EVIDENCE ON DISK</a:t>
            </a:r>
          </a:p>
        </p:txBody>
      </p:sp>
    </p:spTree>
    <p:extLst>
      <p:ext uri="{BB962C8B-B14F-4D97-AF65-F5344CB8AC3E}">
        <p14:creationId xmlns:p14="http://schemas.microsoft.com/office/powerpoint/2010/main" val="184643349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F33840-264B-48D8-A4B8-AEE89F9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877F2"/>
                </a:solidFill>
              </a:defRPr>
            </a:pPr>
            <a:r>
              <a:rPr sz="975" b="1">
                <a:solidFill>
                  <a:srgbClr val="1877F2"/>
                </a:solidFill>
              </a:rPr>
              <a:t>HONEST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04BE0B-65B0-4DF1-B348-D65F64795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02A43"/>
                </a:solidFill>
              </a:defRPr>
            </a:pPr>
            <a:r>
              <a:rPr sz="2625" b="1">
                <a:solidFill>
                  <a:srgbClr val="102A43"/>
                </a:solidFill>
              </a:rPr>
              <a:t>Measured evidence and corrected code are not the same claim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2D4BE7-B34D-43D3-9811-A9778FA74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000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37381"/>
                </a:solidFill>
              </a:defRPr>
            </a:pPr>
            <a:r>
              <a:rPr sz="900" b="1">
                <a:solidFill>
                  <a:srgbClr val="637381"/>
                </a:solidFill>
              </a:rPr>
              <a:t>READINESS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F32C09-10FD-4765-A80F-280BE5B83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37381"/>
                </a:solidFill>
              </a:defRPr>
            </a:pPr>
            <a:r>
              <a:rPr sz="825" b="0">
                <a:solidFill>
                  <a:srgbClr val="637381"/>
                </a:solidFill>
              </a:rPr>
              <a:t>ARIZE FDE INTERVIEW 2  |  JULY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89532E-789D-4FBF-8C83-125763D7E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67475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37381"/>
                </a:solidFill>
              </a:defRPr>
            </a:pPr>
            <a:r>
              <a:rPr sz="825" b="1">
                <a:solidFill>
                  <a:srgbClr val="637381"/>
                </a:solidFill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2DF39A-6A5F-4421-99C4-7B77EF0A3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34290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EAF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00EC5F-F971-4EA6-BE75-674133DBE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76200" cy="3048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77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7D27FD-E532-49FE-B19E-AF67E398D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76400"/>
            <a:ext cx="3028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Measured in the captured run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A56934-3703-4653-AAFC-B1408AD70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302895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The original 33-turn dataset</a:t>
            </a:r>
          </a:p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Experiment redaction explicitly off</a:t>
            </a:r>
          </a:p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Flight-direction improvement</a:t>
            </a:r>
          </a:p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Human gate output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4E45BA-248F-490C-A055-1DF2B1C61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504950"/>
            <a:ext cx="34290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E5F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BD15EE-B68F-46BD-9879-4865FEFC2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504950"/>
            <a:ext cx="76200" cy="3048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A2988E-0CD5-4171-8D48-E789B4C91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676400"/>
            <a:ext cx="3028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Corrected after the audit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2A0BD1-7074-4558-921A-D88EF02DE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076450"/>
            <a:ext cx="302895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The curated dataset is now passed into propose and experiment</a:t>
            </a:r>
          </a:p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Experiment replay now defaults to source redaction</a:t>
            </a:r>
          </a:p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Both changes have focused tests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1248BE-848A-4ACB-9AC3-665D37D80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04950"/>
            <a:ext cx="34290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4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44A5A1-48C3-417D-9CC5-E435E30AD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04950"/>
            <a:ext cx="76200" cy="3048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104FB7-E51C-4BD6-9AE5-344AD697C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76400"/>
            <a:ext cx="3028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Still required before promotion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95715E-FB38-4E61-9F51-CB5A8A87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76450"/>
            <a:ext cx="302895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Run a fresh clean experiment on the curated dataset</a:t>
            </a:r>
          </a:p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Review customer calibration labels</a:t>
            </a:r>
          </a:p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Confirm the numeric release bar</a:t>
            </a:r>
          </a:p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Approve or reject with a named owner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BB6298-BDC3-47AB-BC16-BE1DC9485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34E68"/>
                </a:solidFill>
              </a:defRPr>
            </a:pPr>
            <a:r>
              <a:rPr sz="1500" b="1">
                <a:solidFill>
                  <a:srgbClr val="334E68"/>
                </a:solidFill>
              </a:rPr>
              <a:t>No retroactive rewrite: the historical run remains evidence of what it actually executed.</a:t>
            </a:r>
          </a:p>
        </p:txBody>
      </p:sp>
    </p:spTree>
    <p:extLst>
      <p:ext uri="{BB962C8B-B14F-4D97-AF65-F5344CB8AC3E}">
        <p14:creationId xmlns:p14="http://schemas.microsoft.com/office/powerpoint/2010/main" val="111518301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F270559-FF89-4826-8EF4-E876918C1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877F2"/>
                </a:solidFill>
              </a:defRPr>
            </a:pPr>
            <a:r>
              <a:rPr sz="975" b="1">
                <a:solidFill>
                  <a:srgbClr val="1877F2"/>
                </a:solidFill>
              </a:rPr>
              <a:t>BEYOND THE INTERVIEW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19AAD1-EA32-4993-9213-9048943D8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02A43"/>
                </a:solidFill>
              </a:defRPr>
            </a:pPr>
            <a:r>
              <a:rPr sz="2625" b="1">
                <a:solidFill>
                  <a:srgbClr val="102A43"/>
                </a:solidFill>
              </a:rPr>
              <a:t>Production separates data, evaluation, and authority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0C8285-E9BC-4D52-989F-03BD2C298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000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37381"/>
                </a:solidFill>
              </a:defRPr>
            </a:pPr>
            <a:r>
              <a:rPr sz="900" b="1">
                <a:solidFill>
                  <a:srgbClr val="637381"/>
                </a:solidFill>
              </a:rPr>
              <a:t>OPERATE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281156-4C71-4710-8328-73B39A87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37381"/>
                </a:solidFill>
              </a:defRPr>
            </a:pPr>
            <a:r>
              <a:rPr sz="825" b="0">
                <a:solidFill>
                  <a:srgbClr val="637381"/>
                </a:solidFill>
              </a:rPr>
              <a:t>ARIZE FDE INTERVIEW 2  |  JULY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EA863E-CA17-483C-9725-360D94D7F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67475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37381"/>
                </a:solidFill>
              </a:defRPr>
            </a:pPr>
            <a:r>
              <a:rPr sz="825" b="1">
                <a:solidFill>
                  <a:srgbClr val="637381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F8EAF8-C525-485B-B791-39F01927A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581150" cy="16192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A1737A-B230-4DC0-A1ED-05B75D2E8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76200" cy="1619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77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E7AB66-EDF7-4A9F-8959-A09B01BEE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85950"/>
            <a:ext cx="1181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Serving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DC67BA-0006-435A-A53C-B13DFBF7A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1181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PII redaction</a:t>
            </a:r>
          </a:p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version tags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AAC51E-0396-4BE5-9C27-CAF467C7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238375"/>
            <a:ext cx="228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637381"/>
                </a:solidFill>
              </a:defRPr>
            </a:pPr>
            <a:r>
              <a:rPr sz="1650" b="1">
                <a:solidFill>
                  <a:srgbClr val="637381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DA12D7-3C62-4770-86B6-15C639022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714500"/>
            <a:ext cx="1581150" cy="16192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C6A4BF-1697-4AB9-8DD9-BA20C8E66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714500"/>
            <a:ext cx="76200" cy="1619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77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A5F45B-9B41-465B-BA86-2103D76AD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885950"/>
            <a:ext cx="1181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Telemetry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8DA9CE-F233-487D-8B95-A51EB62E6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286000"/>
            <a:ext cx="1181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OI / OTel</a:t>
            </a:r>
          </a:p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spans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FAE5C4-08EB-4251-8565-089BCC1D9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238375"/>
            <a:ext cx="228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637381"/>
                </a:solidFill>
              </a:defRPr>
            </a:pPr>
            <a:r>
              <a:rPr sz="1650" b="1">
                <a:solidFill>
                  <a:srgbClr val="637381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9B83CC-418A-4460-A8A9-29927C58D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714500"/>
            <a:ext cx="1581150" cy="16192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6CAAE7-75D4-42EC-929C-ADE8BAE6C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714500"/>
            <a:ext cx="76200" cy="1619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FBA4E2-27EA-4AD0-9B5B-DAC099579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885950"/>
            <a:ext cx="1181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Quality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E267C0-EDB3-441C-8158-52CAF7034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86000"/>
            <a:ext cx="1181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AX or Phoenix</a:t>
            </a:r>
          </a:p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eval results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26839F-D95A-4696-90D3-2C65AD08C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238375"/>
            <a:ext cx="228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637381"/>
                </a:solidFill>
              </a:defRPr>
            </a:pPr>
            <a:r>
              <a:rPr sz="1650" b="1">
                <a:solidFill>
                  <a:srgbClr val="637381"/>
                </a:solidFill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602306-DAB7-4302-806A-06E3078DC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714500"/>
            <a:ext cx="1581150" cy="16192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E4AC95-E628-4E60-BC7C-FED4AA137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714500"/>
            <a:ext cx="76200" cy="1619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E29B6F-A6EB-4A86-8959-B960F1566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85950"/>
            <a:ext cx="1181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Triage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FB0A9A-1555-46B6-8F86-3BCC99384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86000"/>
            <a:ext cx="1181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quarantine</a:t>
            </a:r>
          </a:p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clusters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BF4716C-66B9-431B-A7A1-E7E4E95A6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238375"/>
            <a:ext cx="228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637381"/>
                </a:solidFill>
              </a:defRPr>
            </a:pPr>
            <a:r>
              <a:rPr sz="1650" b="1">
                <a:solidFill>
                  <a:srgbClr val="637381"/>
                </a:solidFill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16C8A4-D3E4-478F-84BB-BD8D382DC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714500"/>
            <a:ext cx="1581150" cy="16192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9758A3-640A-4928-9D89-5AC658D0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714500"/>
            <a:ext cx="76200" cy="1619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83677E-4F2A-49A2-B0E6-6BBE375AC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885950"/>
            <a:ext cx="1181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Replay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91DF68-09E3-4981-882A-21F9FA47A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86000"/>
            <a:ext cx="1181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paired tests</a:t>
            </a:r>
          </a:p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regression suite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6CD3CE2-9335-4787-A39E-1F74D5DAF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238375"/>
            <a:ext cx="228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637381"/>
                </a:solidFill>
              </a:defRPr>
            </a:pPr>
            <a:r>
              <a:rPr sz="1650" b="1">
                <a:solidFill>
                  <a:srgbClr val="637381"/>
                </a:solidFill>
              </a:rPr>
              <a:t>→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657382A-54A0-49D3-A811-E7F58E8D4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1714500"/>
            <a:ext cx="1581150" cy="16192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6776B72-255C-476E-A906-3C68D233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1714500"/>
            <a:ext cx="76200" cy="1619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53B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A58FD3E-1A2F-4536-BDAD-09D661C22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885950"/>
            <a:ext cx="1181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Release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2300EF4-8B3E-4738-8210-4F97D033E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286000"/>
            <a:ext cx="1181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human gate</a:t>
            </a:r>
          </a:p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canary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5919345-69C9-4E76-B552-E8EAD6574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33337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1634079-BE1C-4E95-B563-C042A7B1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76200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77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E9121FF-454C-4037-997F-F2250076B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0050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Portable by design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FBC664A-39CA-4C97-AAE3-CE9B2D0FD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00550"/>
            <a:ext cx="2933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OpenInference semantic conventions keep the instrumentation compatible with Arize AX and Phoenix self-hosted.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B30B83D-B7CC-426F-B874-60444426C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829050"/>
            <a:ext cx="33337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D4A13F0-43A1-4387-8DEB-4128F9A5A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829050"/>
            <a:ext cx="76200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B2C1B1C-81D8-452B-8889-F79FC70E7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00050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Retention-safe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AA15FD1-4C8E-4D76-9DE0-419907161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400550"/>
            <a:ext cx="2933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Traces, scores, explanations, manifests, and approval records are exported to disk when captured.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2201316-CA24-4886-8A5F-286D6B51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829050"/>
            <a:ext cx="369570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6ADFE26-51C0-4F86-A25B-C3FFB0D4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829050"/>
            <a:ext cx="76200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9728A62-449B-44C0-89AE-108EEBBDF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000500"/>
            <a:ext cx="3295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Business-connected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2DD989E-DD20-419C-A633-B6599D18E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00550"/>
            <a:ext cx="3295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In production, join trace and version IDs to booking outcomes before claiming conversion impact.</a:t>
            </a:r>
          </a:p>
        </p:txBody>
      </p:sp>
    </p:spTree>
    <p:extLst>
      <p:ext uri="{BB962C8B-B14F-4D97-AF65-F5344CB8AC3E}">
        <p14:creationId xmlns:p14="http://schemas.microsoft.com/office/powerpoint/2010/main" val="125950331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4018513-BE8F-4ECA-82AE-50C0BBB28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877F2"/>
                </a:solidFill>
              </a:defRPr>
            </a:pPr>
            <a:r>
              <a:rPr sz="975" b="1">
                <a:solidFill>
                  <a:srgbClr val="1877F2"/>
                </a:solidFill>
              </a:rPr>
              <a:t>RELEASE GATE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7262FA-3E92-4A43-B897-E2A34133F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02A43"/>
                </a:solidFill>
              </a:defRPr>
            </a:pPr>
            <a:r>
              <a:rPr sz="2625" b="1">
                <a:solidFill>
                  <a:srgbClr val="102A43"/>
                </a:solidFill>
              </a:rPr>
              <a:t>Promotion is a policy decision backed by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BE621E-4075-45A3-9C06-2F26811ED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000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37381"/>
                </a:solidFill>
              </a:defRPr>
            </a:pPr>
            <a:r>
              <a:rPr sz="900" b="1">
                <a:solidFill>
                  <a:srgbClr val="637381"/>
                </a:solidFill>
              </a:rPr>
              <a:t>GOVERN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1D8805-3E5B-4230-B836-429C76C6D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37381"/>
                </a:solidFill>
              </a:defRPr>
            </a:pPr>
            <a:r>
              <a:rPr sz="825" b="0">
                <a:solidFill>
                  <a:srgbClr val="637381"/>
                </a:solidFill>
              </a:rPr>
              <a:t>ARIZE FDE INTERVIEW 2  |  JULY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04EEF5-323F-45F0-B46E-84D588CF5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67475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37381"/>
                </a:solidFill>
              </a:defRPr>
            </a:pPr>
            <a:r>
              <a:rPr sz="825" b="1">
                <a:solidFill>
                  <a:srgbClr val="637381"/>
                </a:solidFill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C1F3DE-DBD9-4EC3-80A7-F6E7872D9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4000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4F216D-3586-42D5-88CF-A1CE6D859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209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C53B3B"/>
                </a:solidFill>
              </a:defRPr>
            </a:pPr>
            <a:r>
              <a:rPr sz="975" b="1">
                <a:solidFill>
                  <a:srgbClr val="C53B3B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6BB74A-6DD9-42F6-B78C-326B1A7CE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4859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Integrity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883CD9-352B-4001-98EA-D9212AF14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485900"/>
            <a:ext cx="666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Artifacts bind to code, dataset, prompt, and agent versions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3D1594-57F1-462F-BFF0-D2BF635C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4000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A1660A-FE8A-4930-B040-B953BB70D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209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C53B3B"/>
                </a:solidFill>
              </a:defRPr>
            </a:pPr>
            <a:r>
              <a:rPr sz="975" b="1">
                <a:solidFill>
                  <a:srgbClr val="C53B3B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CDFAAC-5CF1-42CF-80E1-3CCE73FC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1526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Hard invariants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4BC946-FFA8-4F4F-B7BB-69F77B2D0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152650"/>
            <a:ext cx="666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No fabricated inventory, no PII leakage, bounded execution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FDE214-BC15-45EA-A1D3-3F90A1AB6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4000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7F0740-ED34-4F1F-9447-60A35BD27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57500"/>
            <a:ext cx="209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877F2"/>
                </a:solidFill>
              </a:defRPr>
            </a:pPr>
            <a:r>
              <a:rPr sz="975" b="1">
                <a:solidFill>
                  <a:srgbClr val="1877F2"/>
                </a:solidFill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C44EA5-F738-45ED-8375-2BD84137A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8194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Regression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81E186-AB1B-486E-BA42-03338C3CF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819400"/>
            <a:ext cx="666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No material drop across the deterministic evaluation portfolio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305487-5282-48CA-96CD-A5B378AE5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4000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51B4CC-4E9B-4C04-9910-65355174A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24250"/>
            <a:ext cx="209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877F2"/>
                </a:solidFill>
              </a:defRPr>
            </a:pPr>
            <a:r>
              <a:rPr sz="975" b="1">
                <a:solidFill>
                  <a:srgbClr val="1877F2"/>
                </a:solidFill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7D4C37-22AC-4B4B-97E3-DFF42FBA7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4861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Capability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DA8B51-7656-4158-A4EF-0FD9AF6F8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486150"/>
            <a:ext cx="666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The targeted failure improves on applicable cases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092EEF-9A2B-47E4-8126-7ACF36FA6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3850"/>
            <a:ext cx="4000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C31529-9811-4E39-938D-939A858D0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0"/>
            <a:ext cx="209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877F2"/>
                </a:solidFill>
              </a:defRPr>
            </a:pPr>
            <a:r>
              <a:rPr sz="975" b="1">
                <a:solidFill>
                  <a:srgbClr val="1877F2"/>
                </a:solidFill>
              </a:rPr>
              <a:t>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C3F1A6-0D19-46D9-9744-97DEF9EE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529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Operations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7D7C5B-AE01-4EE9-A8D0-3345B442C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152900"/>
            <a:ext cx="666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Latency, tokens, cost, and tool errors remain within budget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61FEA5-54FC-46E2-8454-22431962B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4000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13FBB94-956E-4E90-B203-06F1EF05A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57750"/>
            <a:ext cx="209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877F2"/>
                </a:solidFill>
              </a:defRPr>
            </a:pPr>
            <a:r>
              <a:rPr sz="975" b="1">
                <a:solidFill>
                  <a:srgbClr val="1877F2"/>
                </a:solidFill>
              </a:rPr>
              <a:t>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7B07EA0-A5B9-4532-873F-A869BC946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96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Business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C16B2F6-4D1D-4B42-9348-083F9576C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19650"/>
            <a:ext cx="666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Canary outcomes support the intended customer metric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D9959F-EB4A-4B85-B7E7-4B3F98622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466850"/>
            <a:ext cx="1771650" cy="3676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73F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7A985C-06B9-40CE-86AD-AB7062DB4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1847850"/>
            <a:ext cx="13144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FINAL</a:t>
            </a:r>
          </a:p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DECISION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966775-671E-4A5B-B187-42F9B49DB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990850"/>
            <a:ext cx="13144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4B942"/>
                </a:solidFill>
              </a:defRPr>
            </a:pPr>
            <a:r>
              <a:rPr sz="2100" b="1">
                <a:solidFill>
                  <a:srgbClr val="F4B942"/>
                </a:solidFill>
              </a:rPr>
              <a:t>HUMAN</a:t>
            </a:r>
          </a:p>
          <a:p xmlns:a="http://schemas.openxmlformats.org/drawingml/2006/main">
            <a:pPr algn="ctr">
              <a:defRPr sz="2100" b="1">
                <a:solidFill>
                  <a:srgbClr val="F4B942"/>
                </a:solidFill>
              </a:defRPr>
            </a:pPr>
            <a:r>
              <a:rPr sz="2100" b="1">
                <a:solidFill>
                  <a:srgbClr val="F4B942"/>
                </a:solidFill>
              </a:rPr>
              <a:t>GATE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CB4754F-B00A-46CC-8794-FD7B2EEBD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248150"/>
            <a:ext cx="1314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D6E8F5"/>
                </a:solidFill>
              </a:defRPr>
            </a:pPr>
            <a:r>
              <a:rPr sz="1125" b="0">
                <a:solidFill>
                  <a:srgbClr val="D6E8F5"/>
                </a:solidFill>
              </a:rPr>
              <a:t>Named owner</a:t>
            </a:r>
          </a:p>
          <a:p xmlns:a="http://schemas.openxmlformats.org/drawingml/2006/main">
            <a:pPr algn="ctr">
              <a:defRPr sz="1125" b="0">
                <a:solidFill>
                  <a:srgbClr val="D6E8F5"/>
                </a:solidFill>
              </a:defRPr>
            </a:pPr>
            <a:r>
              <a:rPr sz="1125" b="0">
                <a:solidFill>
                  <a:srgbClr val="D6E8F5"/>
                </a:solidFill>
              </a:rPr>
              <a:t>and timestamp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C9E9073-5BF1-4865-BE00-964243900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53B3B"/>
                </a:solidFill>
              </a:defRPr>
            </a:pPr>
            <a:r>
              <a:rPr sz="1275" b="1">
                <a:solidFill>
                  <a:srgbClr val="C53B3B"/>
                </a:solidFill>
              </a:rPr>
              <a:t>Current loop output: pending_human_review</a:t>
            </a:r>
          </a:p>
        </p:txBody>
      </p:sp>
    </p:spTree>
    <p:extLst>
      <p:ext uri="{BB962C8B-B14F-4D97-AF65-F5344CB8AC3E}">
        <p14:creationId xmlns:p14="http://schemas.microsoft.com/office/powerpoint/2010/main" val="80089786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73F5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48AF4B-C86B-4B5E-80B1-948B5C80B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7524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FFFFFF"/>
                </a:solidFill>
              </a:defRPr>
            </a:pPr>
            <a:r>
              <a:rPr sz="3525" b="1">
                <a:solidFill>
                  <a:srgbClr val="FFFFFF"/>
                </a:solidFill>
              </a:rPr>
              <a:t>The system around the agent</a:t>
            </a:r>
          </a:p>
          <a:p xmlns:a="http://schemas.openxmlformats.org/drawingml/2006/main">
            <a:pPr algn="l">
              <a:defRPr sz="3525" b="1">
                <a:solidFill>
                  <a:srgbClr val="FFFFFF"/>
                </a:solidFill>
              </a:defRPr>
            </a:pPr>
            <a:r>
              <a:rPr sz="3525" b="1">
                <a:solidFill>
                  <a:srgbClr val="FFFFFF"/>
                </a:solidFill>
              </a:rPr>
              <a:t>is the product here.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FDFC9C-D272-49E3-ADFB-5B87B560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325755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12DC7B-1633-494B-8AFE-CA6F40940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76200" cy="1581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77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BFC43B-7D13-4613-82BF-B468E96A1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718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1  Find the first mistake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893E14-81D0-41E1-831B-607E5BF0A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7185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Trace-level attribution points to the correct owner and component.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EEFB2F-4636-4499-A1F6-D5FB1651F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00350"/>
            <a:ext cx="325755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DDDCC7-FE8F-4932-9778-93FF5B3A0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00350"/>
            <a:ext cx="76200" cy="1581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AD6476-00EA-4B37-9DB4-790436D9C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9718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2  Prove the repair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A38EF2-F7DE-4EB0-A622-1B13EC961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37185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Deterministic evals and paired replay separate signal from grader artifacts.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C0B7A3-D10C-4E75-8C4D-5B3181C32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00350"/>
            <a:ext cx="325755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EEF55B-9016-453F-AE3B-77C1B333C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00350"/>
            <a:ext cx="76200" cy="1581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B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A1F88D-5302-4BD6-A156-A2E16AB36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9718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3  Roll out with control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C9E2C5-4DD3-4388-AD9D-589366974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37185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E68"/>
                </a:solidFill>
              </a:defRPr>
            </a:pPr>
            <a:r>
              <a:rPr sz="1200" b="0">
                <a:solidFill>
                  <a:srgbClr val="334E68"/>
                </a:solidFill>
              </a:rPr>
              <a:t>A human-owned gate and canary connect offline quality to real booking outcomes.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A11EC9-6F12-4E56-BFB9-9D852B1DF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4B942"/>
                </a:solidFill>
              </a:defRPr>
            </a:pPr>
            <a:r>
              <a:rPr sz="1650" b="1">
                <a:solidFill>
                  <a:srgbClr val="F4B942"/>
                </a:solidFill>
              </a:rPr>
              <a:t>Measured today: flight direction 1/9 → 8/8, with no rate regressions.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E24230-3A50-4B84-BC02-421D4D935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43600"/>
            <a:ext cx="685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6E8F5"/>
                </a:solidFill>
              </a:defRPr>
            </a:pPr>
            <a:r>
              <a:rPr sz="1125" b="0">
                <a:solidFill>
                  <a:srgbClr val="D6E8F5"/>
                </a:solidFill>
              </a:rPr>
              <a:t>github.com/ChinmayShringi/arize-fde-travel-agent-evals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73C3F9-7B1D-44E2-87A4-ECD12F3CE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5753100"/>
            <a:ext cx="1200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2325" b="1">
                <a:solidFill>
                  <a:srgbClr val="FFFFFF"/>
                </a:solidFill>
              </a:defRPr>
            </a:pPr>
            <a:r>
              <a:rPr sz="2325" b="1">
                <a:solidFill>
                  <a:srgbClr val="FFFFFF"/>
                </a:solidFill>
              </a:rPr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12851548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2026-07-22T01:52:05.0180000Z</dcterms:created>
  <dcterms:modified xsi:type="dcterms:W3CDTF">2026-07-22T01:52:05.0180000Z</dcterms:modified>
</coreProperties>
</file>